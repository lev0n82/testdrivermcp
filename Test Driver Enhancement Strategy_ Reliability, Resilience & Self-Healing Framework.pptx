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28750" y="1116574"/>
            <a:ext cx="62865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727" spc="2" kern="0" dirty="0">
                <a:solidFill>
                  <a:srgbClr val="7C3AED"/>
                </a:solidFill>
              </a:rPr>
              <a:t>TECHNICAL ARCHITECTURE BRIEF</a:t>
            </a:r>
            <a:endParaRPr lang="en-US" sz="727" dirty="0"/>
          </a:p>
        </p:txBody>
      </p:sp>
      <p:sp>
        <p:nvSpPr>
          <p:cNvPr id="4" name="Text 1"/>
          <p:cNvSpPr/>
          <p:nvPr/>
        </p:nvSpPr>
        <p:spPr>
          <a:xfrm>
            <a:off x="1428750" y="1480905"/>
            <a:ext cx="6286500" cy="100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00D9FF"/>
                </a:solidFill>
              </a:rPr>
              <a:t>Test Driver Enhancement Strategy</a:t>
            </a:r>
            <a:endParaRPr lang="en-US" sz="3294" dirty="0"/>
          </a:p>
        </p:txBody>
      </p:sp>
      <p:sp>
        <p:nvSpPr>
          <p:cNvPr id="5" name="Text 2"/>
          <p:cNvSpPr/>
          <p:nvPr/>
        </p:nvSpPr>
        <p:spPr>
          <a:xfrm>
            <a:off x="1428750" y="3086798"/>
            <a:ext cx="6286500" cy="29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704" dirty="0">
                <a:solidFill>
                  <a:srgbClr val="E8EEF5"/>
                </a:solidFill>
              </a:rPr>
              <a:t>Reliability, Resilience &amp; Self-Healing Framework</a:t>
            </a:r>
            <a:endParaRPr lang="en-US" sz="1704" dirty="0"/>
          </a:p>
        </p:txBody>
      </p:sp>
      <p:sp>
        <p:nvSpPr>
          <p:cNvPr id="6" name="Text 3"/>
          <p:cNvSpPr/>
          <p:nvPr/>
        </p:nvSpPr>
        <p:spPr>
          <a:xfrm>
            <a:off x="1428750" y="3812586"/>
            <a:ext cx="62865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E8EEF5">
                    <a:alpha val="80000"/>
                  </a:srgbClr>
                </a:solidFill>
              </a:rPr>
              <a:t>Implementation Roadmap and Key Features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2358637" y="4443413"/>
            <a:ext cx="99331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PHASE 1-3 DEPLOYMENT</a:t>
            </a:r>
            <a:endParaRPr lang="en-US" sz="621" dirty="0"/>
          </a:p>
        </p:txBody>
      </p:sp>
      <p:sp>
        <p:nvSpPr>
          <p:cNvPr id="8" name="Text 5"/>
          <p:cNvSpPr/>
          <p:nvPr/>
        </p:nvSpPr>
        <p:spPr>
          <a:xfrm>
            <a:off x="3637704" y="4443413"/>
            <a:ext cx="3225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7C3AED"/>
                </a:solidFill>
              </a:rPr>
              <a:t>•</a:t>
            </a:r>
            <a:endParaRPr lang="en-US" sz="621" dirty="0"/>
          </a:p>
        </p:txBody>
      </p:sp>
      <p:sp>
        <p:nvSpPr>
          <p:cNvPr id="9" name="Text 6"/>
          <p:cNvSpPr/>
          <p:nvPr/>
        </p:nvSpPr>
        <p:spPr>
          <a:xfrm>
            <a:off x="3955712" y="4443413"/>
            <a:ext cx="100866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AI-DRIVEN AUTOMATION</a:t>
            </a:r>
            <a:endParaRPr lang="en-US" sz="621" dirty="0"/>
          </a:p>
        </p:txBody>
      </p:sp>
      <p:sp>
        <p:nvSpPr>
          <p:cNvPr id="10" name="Text 7"/>
          <p:cNvSpPr/>
          <p:nvPr/>
        </p:nvSpPr>
        <p:spPr>
          <a:xfrm>
            <a:off x="5250126" y="4443413"/>
            <a:ext cx="3225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7C3AED"/>
                </a:solidFill>
              </a:rPr>
              <a:t>•</a:t>
            </a:r>
            <a:endParaRPr lang="en-US" sz="621" dirty="0"/>
          </a:p>
        </p:txBody>
      </p:sp>
      <p:sp>
        <p:nvSpPr>
          <p:cNvPr id="11" name="Text 8"/>
          <p:cNvSpPr/>
          <p:nvPr/>
        </p:nvSpPr>
        <p:spPr>
          <a:xfrm>
            <a:off x="5568135" y="4443413"/>
            <a:ext cx="121722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AUTONOMOUS QA PLATFORM</a:t>
            </a:r>
            <a:endParaRPr lang="en-US" sz="62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4805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3086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0D9FF"/>
                </a:solidFill>
              </a:rPr>
              <a:t>The Challenge - Why Traditional Testing Falls Short</a:t>
            </a:r>
            <a:endParaRPr lang="en-US" sz="1808" dirty="0"/>
          </a:p>
        </p:txBody>
      </p:sp>
      <p:sp>
        <p:nvSpPr>
          <p:cNvPr id="4" name="Text 1"/>
          <p:cNvSpPr/>
          <p:nvPr/>
        </p:nvSpPr>
        <p:spPr>
          <a:xfrm>
            <a:off x="571500" y="1151567"/>
            <a:ext cx="4586288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9FF"/>
                </a:solidFill>
              </a:rPr>
              <a:t>Traditional test automation faces critical limitations that undermine software quality:</a:t>
            </a:r>
            <a:endParaRPr lang="en-US" sz="784" dirty="0"/>
          </a:p>
        </p:txBody>
      </p:sp>
      <p:sp>
        <p:nvSpPr>
          <p:cNvPr id="5" name="Shape 2"/>
          <p:cNvSpPr/>
          <p:nvPr/>
        </p:nvSpPr>
        <p:spPr>
          <a:xfrm>
            <a:off x="571500" y="1731606"/>
            <a:ext cx="4586288" cy="784361"/>
          </a:xfrm>
          <a:prstGeom prst="rect">
            <a:avLst/>
          </a:prstGeom>
          <a:solidFill>
            <a:srgbClr val="00D9FF">
              <a:alpha val="5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571500" y="1731606"/>
            <a:ext cx="14288" cy="784361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7" name="Text 4"/>
          <p:cNvSpPr/>
          <p:nvPr/>
        </p:nvSpPr>
        <p:spPr>
          <a:xfrm>
            <a:off x="714375" y="1838762"/>
            <a:ext cx="430053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D9FF"/>
                </a:solidFill>
              </a:rPr>
              <a:t>Constant Manual Maintenance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714375" y="2088793"/>
            <a:ext cx="4300538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E8EEF5"/>
                </a:solidFill>
              </a:rPr>
              <a:t>Tests break frequently when UI elements change, requiring continuous manual updates that consume up to 40% of QA resources.</a:t>
            </a:r>
            <a:endParaRPr lang="en-US" sz="727" dirty="0"/>
          </a:p>
        </p:txBody>
      </p:sp>
      <p:sp>
        <p:nvSpPr>
          <p:cNvPr id="9" name="Shape 6"/>
          <p:cNvSpPr/>
          <p:nvPr/>
        </p:nvSpPr>
        <p:spPr>
          <a:xfrm>
            <a:off x="571500" y="2601692"/>
            <a:ext cx="4586288" cy="784361"/>
          </a:xfrm>
          <a:prstGeom prst="rect">
            <a:avLst/>
          </a:prstGeom>
          <a:solidFill>
            <a:srgbClr val="00D9FF">
              <a:alpha val="5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571500" y="2601692"/>
            <a:ext cx="14288" cy="784361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1" name="Text 8"/>
          <p:cNvSpPr/>
          <p:nvPr/>
        </p:nvSpPr>
        <p:spPr>
          <a:xfrm>
            <a:off x="714375" y="2708849"/>
            <a:ext cx="430053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D9FF"/>
                </a:solidFill>
              </a:rPr>
              <a:t>Flaky Test Epidemic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714375" y="2958880"/>
            <a:ext cx="4300538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E8EEF5"/>
                </a:solidFill>
              </a:rPr>
              <a:t>Static waits and brittle selectors create unreliable tests that produce false failures, eroding team confidence in automation.</a:t>
            </a:r>
            <a:endParaRPr lang="en-US" sz="727" dirty="0"/>
          </a:p>
        </p:txBody>
      </p:sp>
      <p:sp>
        <p:nvSpPr>
          <p:cNvPr id="13" name="Shape 10"/>
          <p:cNvSpPr/>
          <p:nvPr/>
        </p:nvSpPr>
        <p:spPr>
          <a:xfrm>
            <a:off x="571500" y="3471779"/>
            <a:ext cx="4586288" cy="624353"/>
          </a:xfrm>
          <a:prstGeom prst="rect">
            <a:avLst/>
          </a:prstGeom>
          <a:solidFill>
            <a:srgbClr val="00D9FF">
              <a:alpha val="5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571500" y="3471779"/>
            <a:ext cx="14288" cy="624353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5" name="Text 12"/>
          <p:cNvSpPr/>
          <p:nvPr/>
        </p:nvSpPr>
        <p:spPr>
          <a:xfrm>
            <a:off x="714375" y="3578935"/>
            <a:ext cx="430053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D9FF"/>
                </a:solidFill>
              </a:rPr>
              <a:t>Debugging Overhead</a:t>
            </a:r>
            <a:endParaRPr lang="en-US" sz="885" dirty="0"/>
          </a:p>
        </p:txBody>
      </p:sp>
      <p:sp>
        <p:nvSpPr>
          <p:cNvPr id="16" name="Text 13"/>
          <p:cNvSpPr/>
          <p:nvPr/>
        </p:nvSpPr>
        <p:spPr>
          <a:xfrm>
            <a:off x="714375" y="3828966"/>
            <a:ext cx="4300538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E8EEF5"/>
                </a:solidFill>
              </a:rPr>
              <a:t>Teams spend hours determining whether failures indicate real bugs or broken test scripts.</a:t>
            </a:r>
            <a:endParaRPr lang="en-US" sz="727" dirty="0"/>
          </a:p>
        </p:txBody>
      </p:sp>
      <p:sp>
        <p:nvSpPr>
          <p:cNvPr id="17" name="Shape 14"/>
          <p:cNvSpPr/>
          <p:nvPr/>
        </p:nvSpPr>
        <p:spPr>
          <a:xfrm>
            <a:off x="571500" y="4181856"/>
            <a:ext cx="4586288" cy="784361"/>
          </a:xfrm>
          <a:prstGeom prst="rect">
            <a:avLst/>
          </a:prstGeom>
          <a:solidFill>
            <a:srgbClr val="00D9FF">
              <a:alpha val="5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571500" y="4181856"/>
            <a:ext cx="14288" cy="784361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9" name="Text 16"/>
          <p:cNvSpPr/>
          <p:nvPr/>
        </p:nvSpPr>
        <p:spPr>
          <a:xfrm>
            <a:off x="714375" y="4289013"/>
            <a:ext cx="430053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D9FF"/>
                </a:solidFill>
              </a:rPr>
              <a:t>Limited Scope</a:t>
            </a:r>
            <a:endParaRPr lang="en-US" sz="885" dirty="0"/>
          </a:p>
        </p:txBody>
      </p:sp>
      <p:sp>
        <p:nvSpPr>
          <p:cNvPr id="20" name="Text 17"/>
          <p:cNvSpPr/>
          <p:nvPr/>
        </p:nvSpPr>
        <p:spPr>
          <a:xfrm>
            <a:off x="714375" y="4539044"/>
            <a:ext cx="4300538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E8EEF5"/>
                </a:solidFill>
              </a:rPr>
              <a:t>Traditional frameworks only validate functional correctness, missing security vulnerabilities, performance regressions, and accessibility violations.</a:t>
            </a:r>
            <a:endParaRPr lang="en-US" sz="727" dirty="0"/>
          </a:p>
        </p:txBody>
      </p:sp>
      <p:sp>
        <p:nvSpPr>
          <p:cNvPr id="21" name="Text 18"/>
          <p:cNvSpPr/>
          <p:nvPr/>
        </p:nvSpPr>
        <p:spPr>
          <a:xfrm>
            <a:off x="5514975" y="1151567"/>
            <a:ext cx="3057525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7C3AED"/>
                </a:solidFill>
              </a:rPr>
              <a:t>The Cost of Limitations:</a:t>
            </a:r>
            <a:endParaRPr lang="en-US" sz="784" dirty="0"/>
          </a:p>
        </p:txBody>
      </p:sp>
      <p:sp>
        <p:nvSpPr>
          <p:cNvPr id="22" name="Text 19"/>
          <p:cNvSpPr/>
          <p:nvPr/>
        </p:nvSpPr>
        <p:spPr>
          <a:xfrm>
            <a:off x="5679281" y="1548743"/>
            <a:ext cx="2893219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100"/>
              </a:lnSpc>
              <a:buNone/>
            </a:pPr>
            <a:r>
              <a:rPr lang="en-US" sz="2436" b="1" dirty="0">
                <a:solidFill>
                  <a:srgbClr val="10B981"/>
                </a:solidFill>
              </a:rPr>
              <a:t>40%</a:t>
            </a:r>
            <a:endParaRPr lang="en-US" sz="2436" dirty="0"/>
          </a:p>
        </p:txBody>
      </p:sp>
      <p:sp>
        <p:nvSpPr>
          <p:cNvPr id="23" name="Text 20"/>
          <p:cNvSpPr/>
          <p:nvPr/>
        </p:nvSpPr>
        <p:spPr>
          <a:xfrm>
            <a:off x="5679281" y="2063093"/>
            <a:ext cx="28932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8EEF5">
                    <a:alpha val="90000"/>
                  </a:srgbClr>
                </a:solidFill>
              </a:rPr>
              <a:t>of QA resources consumed by test maintenance</a:t>
            </a:r>
            <a:endParaRPr lang="en-US" sz="727" dirty="0"/>
          </a:p>
        </p:txBody>
      </p:sp>
      <p:sp>
        <p:nvSpPr>
          <p:cNvPr id="24" name="Text 21"/>
          <p:cNvSpPr/>
          <p:nvPr/>
        </p:nvSpPr>
        <p:spPr>
          <a:xfrm>
            <a:off x="5679281" y="2355986"/>
            <a:ext cx="2893219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100"/>
              </a:lnSpc>
              <a:buNone/>
            </a:pPr>
            <a:r>
              <a:rPr lang="en-US" sz="2436" b="1" dirty="0">
                <a:solidFill>
                  <a:srgbClr val="7C3AED"/>
                </a:solidFill>
              </a:rPr>
              <a:t>2-3</a:t>
            </a:r>
            <a:endParaRPr lang="en-US" sz="2436" dirty="0"/>
          </a:p>
        </p:txBody>
      </p:sp>
      <p:sp>
        <p:nvSpPr>
          <p:cNvPr id="25" name="Text 22"/>
          <p:cNvSpPr/>
          <p:nvPr/>
        </p:nvSpPr>
        <p:spPr>
          <a:xfrm>
            <a:off x="5679281" y="2870336"/>
            <a:ext cx="28932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8EEF5">
                    <a:alpha val="90000"/>
                  </a:srgbClr>
                </a:solidFill>
              </a:rPr>
              <a:t>days average release delay per sprint due to flaky tests</a:t>
            </a:r>
            <a:endParaRPr lang="en-US" sz="727" dirty="0"/>
          </a:p>
        </p:txBody>
      </p:sp>
      <p:sp>
        <p:nvSpPr>
          <p:cNvPr id="26" name="Text 23"/>
          <p:cNvSpPr/>
          <p:nvPr/>
        </p:nvSpPr>
        <p:spPr>
          <a:xfrm>
            <a:off x="5679281" y="3163230"/>
            <a:ext cx="2893219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100"/>
              </a:lnSpc>
              <a:buNone/>
            </a:pPr>
            <a:r>
              <a:rPr lang="en-US" sz="2436" b="1" dirty="0">
                <a:solidFill>
                  <a:srgbClr val="00D9FF"/>
                </a:solidFill>
              </a:rPr>
              <a:t>10-100×</a:t>
            </a:r>
            <a:endParaRPr lang="en-US" sz="2436" dirty="0"/>
          </a:p>
        </p:txBody>
      </p:sp>
      <p:sp>
        <p:nvSpPr>
          <p:cNvPr id="27" name="Text 24"/>
          <p:cNvSpPr/>
          <p:nvPr/>
        </p:nvSpPr>
        <p:spPr>
          <a:xfrm>
            <a:off x="5679281" y="3677580"/>
            <a:ext cx="2893219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8EEF5">
                    <a:alpha val="90000"/>
                  </a:srgbClr>
                </a:solidFill>
              </a:rPr>
              <a:t>higher cost to fix production defects vs. catching during development</a:t>
            </a:r>
            <a:endParaRPr lang="en-US" sz="727" dirty="0"/>
          </a:p>
        </p:txBody>
      </p:sp>
      <p:sp>
        <p:nvSpPr>
          <p:cNvPr id="28" name="Shape 25"/>
          <p:cNvSpPr/>
          <p:nvPr/>
        </p:nvSpPr>
        <p:spPr>
          <a:xfrm>
            <a:off x="5514975" y="4263368"/>
            <a:ext cx="3057525" cy="780064"/>
          </a:xfrm>
          <a:prstGeom prst="rect">
            <a:avLst/>
          </a:prstGeom>
          <a:solidFill>
            <a:srgbClr val="7C3AED">
              <a:alpha val="10000"/>
            </a:srgbClr>
          </a:solidFill>
          <a:ln w="9144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657850" y="4406243"/>
            <a:ext cx="2771775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i="1" dirty="0">
                <a:solidFill>
                  <a:srgbClr val="E8EEF5"/>
                </a:solidFill>
              </a:rPr>
              <a:t>Organizations report that test maintenance consumes more effort than test creation, fundamentally undermining the value proposition of automation.</a:t>
            </a:r>
            <a:endParaRPr lang="en-US" sz="727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8363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21469"/>
            <a:ext cx="8001000" cy="3086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0D9FF"/>
                </a:solidFill>
              </a:rPr>
              <a:t>The Vision - Autonomous Quality Assurance Platform</a:t>
            </a:r>
            <a:endParaRPr lang="en-US" sz="1808" dirty="0"/>
          </a:p>
        </p:txBody>
      </p:sp>
      <p:sp>
        <p:nvSpPr>
          <p:cNvPr id="4" name="Text 1"/>
          <p:cNvSpPr/>
          <p:nvPr/>
        </p:nvSpPr>
        <p:spPr>
          <a:xfrm>
            <a:off x="571500" y="937254"/>
            <a:ext cx="7143750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0D9FF"/>
                </a:solidFill>
              </a:rPr>
              <a:t>Transform Test Driver into an intelligent, self-healing system that delivers comprehensive quality assurance</a:t>
            </a:r>
            <a:endParaRPr lang="en-US" sz="885" dirty="0"/>
          </a:p>
        </p:txBody>
      </p:sp>
      <p:sp>
        <p:nvSpPr>
          <p:cNvPr id="5" name="Text 2"/>
          <p:cNvSpPr/>
          <p:nvPr/>
        </p:nvSpPr>
        <p:spPr>
          <a:xfrm>
            <a:off x="571500" y="1214410"/>
            <a:ext cx="7143750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8EEF5"/>
                </a:solidFill>
              </a:rPr>
              <a:t>The enhanced framework represents a fundamental shift from reactive test execution to proactive quality engineering. By integrating AI-driven self-healing, multi-dimensional testing, and predictive analytics, the system will autonomously detect, diagnose, and resolve testing issues while providing holistic visibility into application quality.</a:t>
            </a:r>
            <a:endParaRPr lang="en-US" sz="834" dirty="0"/>
          </a:p>
        </p:txBody>
      </p:sp>
      <p:sp>
        <p:nvSpPr>
          <p:cNvPr id="6" name="Text 3"/>
          <p:cNvSpPr/>
          <p:nvPr/>
        </p:nvSpPr>
        <p:spPr>
          <a:xfrm>
            <a:off x="571500" y="1941593"/>
            <a:ext cx="800100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spc="1" kern="0" dirty="0">
                <a:solidFill>
                  <a:srgbClr val="7C3AED"/>
                </a:solidFill>
              </a:rPr>
              <a:t>Four Foundational Pillars</a:t>
            </a:r>
            <a:endParaRPr lang="en-US" sz="683" dirty="0"/>
          </a:p>
        </p:txBody>
      </p:sp>
      <p:sp>
        <p:nvSpPr>
          <p:cNvPr id="7" name="Shape 4"/>
          <p:cNvSpPr/>
          <p:nvPr/>
        </p:nvSpPr>
        <p:spPr>
          <a:xfrm>
            <a:off x="571500" y="2208758"/>
            <a:ext cx="3946922" cy="1171575"/>
          </a:xfrm>
          <a:prstGeom prst="rect">
            <a:avLst/>
          </a:prstGeom>
          <a:solidFill>
            <a:srgbClr val="00D9FF">
              <a:alpha val="5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71500" y="2208758"/>
            <a:ext cx="3946922" cy="21431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9" name="Text 6"/>
          <p:cNvSpPr/>
          <p:nvPr/>
        </p:nvSpPr>
        <p:spPr>
          <a:xfrm>
            <a:off x="714375" y="2351633"/>
            <a:ext cx="3661172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00D9FF"/>
                </a:solidFill>
              </a:rPr>
              <a:t>01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714375" y="2665958"/>
            <a:ext cx="3661172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E8EEF5"/>
                </a:solidFill>
              </a:rPr>
              <a:t>Automatic Adaptation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714375" y="2915989"/>
            <a:ext cx="3661172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8EEF5">
                    <a:alpha val="85000"/>
                  </a:srgbClr>
                </a:solidFill>
              </a:rPr>
              <a:t>System automatically adapts to application changes, healing broken tests without human intervention.</a:t>
            </a:r>
            <a:endParaRPr lang="en-US" sz="727" dirty="0"/>
          </a:p>
        </p:txBody>
      </p:sp>
      <p:sp>
        <p:nvSpPr>
          <p:cNvPr id="12" name="Shape 9"/>
          <p:cNvSpPr/>
          <p:nvPr/>
        </p:nvSpPr>
        <p:spPr>
          <a:xfrm>
            <a:off x="4625578" y="2208758"/>
            <a:ext cx="3946922" cy="1171575"/>
          </a:xfrm>
          <a:prstGeom prst="rect">
            <a:avLst/>
          </a:prstGeom>
          <a:solidFill>
            <a:srgbClr val="00D9FF">
              <a:alpha val="5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4625578" y="2208758"/>
            <a:ext cx="3946922" cy="21431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1"/>
          <p:cNvSpPr/>
          <p:nvPr/>
        </p:nvSpPr>
        <p:spPr>
          <a:xfrm>
            <a:off x="4768453" y="2351633"/>
            <a:ext cx="3661172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7C3AED"/>
                </a:solidFill>
              </a:rPr>
              <a:t>02</a:t>
            </a:r>
            <a:endParaRPr lang="en-US" sz="1193" dirty="0"/>
          </a:p>
        </p:txBody>
      </p:sp>
      <p:sp>
        <p:nvSpPr>
          <p:cNvPr id="15" name="Text 12"/>
          <p:cNvSpPr/>
          <p:nvPr/>
        </p:nvSpPr>
        <p:spPr>
          <a:xfrm>
            <a:off x="4768453" y="2665958"/>
            <a:ext cx="3661172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E8EEF5"/>
                </a:solidFill>
              </a:rPr>
              <a:t>Multi-Dimensional Testing</a:t>
            </a:r>
            <a:endParaRPr lang="en-US" sz="885" dirty="0"/>
          </a:p>
        </p:txBody>
      </p:sp>
      <p:sp>
        <p:nvSpPr>
          <p:cNvPr id="16" name="Text 13"/>
          <p:cNvSpPr/>
          <p:nvPr/>
        </p:nvSpPr>
        <p:spPr>
          <a:xfrm>
            <a:off x="4768453" y="2915989"/>
            <a:ext cx="3661172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8EEF5">
                    <a:alpha val="85000"/>
                  </a:srgbClr>
                </a:solidFill>
              </a:rPr>
              <a:t>Expand beyond functional testing to validate security, performance, accessibility, and compliance in a unified workflow.</a:t>
            </a:r>
            <a:endParaRPr lang="en-US" sz="727" dirty="0"/>
          </a:p>
        </p:txBody>
      </p:sp>
      <p:sp>
        <p:nvSpPr>
          <p:cNvPr id="17" name="Shape 14"/>
          <p:cNvSpPr/>
          <p:nvPr/>
        </p:nvSpPr>
        <p:spPr>
          <a:xfrm>
            <a:off x="571500" y="3466058"/>
            <a:ext cx="3946922" cy="1171575"/>
          </a:xfrm>
          <a:prstGeom prst="rect">
            <a:avLst/>
          </a:prstGeom>
          <a:solidFill>
            <a:srgbClr val="00D9FF">
              <a:alpha val="5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571500" y="3466058"/>
            <a:ext cx="3946922" cy="21431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6"/>
          <p:cNvSpPr/>
          <p:nvPr/>
        </p:nvSpPr>
        <p:spPr>
          <a:xfrm>
            <a:off x="714375" y="3608933"/>
            <a:ext cx="3661172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10B981"/>
                </a:solidFill>
              </a:rPr>
              <a:t>03</a:t>
            </a:r>
            <a:endParaRPr lang="en-US" sz="1193" dirty="0"/>
          </a:p>
        </p:txBody>
      </p:sp>
      <p:sp>
        <p:nvSpPr>
          <p:cNvPr id="20" name="Text 17"/>
          <p:cNvSpPr/>
          <p:nvPr/>
        </p:nvSpPr>
        <p:spPr>
          <a:xfrm>
            <a:off x="714375" y="3923258"/>
            <a:ext cx="3661172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E8EEF5"/>
                </a:solidFill>
              </a:rPr>
              <a:t>Predictive Analytics</a:t>
            </a:r>
            <a:endParaRPr lang="en-US" sz="885" dirty="0"/>
          </a:p>
        </p:txBody>
      </p:sp>
      <p:sp>
        <p:nvSpPr>
          <p:cNvPr id="21" name="Text 18"/>
          <p:cNvSpPr/>
          <p:nvPr/>
        </p:nvSpPr>
        <p:spPr>
          <a:xfrm>
            <a:off x="714375" y="4173289"/>
            <a:ext cx="3661172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8EEF5">
                    <a:alpha val="85000"/>
                  </a:srgbClr>
                </a:solidFill>
              </a:rPr>
              <a:t>Advanced telemetry and machine learning enable predictive failure detection, catching issues before they reach production.</a:t>
            </a:r>
            <a:endParaRPr lang="en-US" sz="727" dirty="0"/>
          </a:p>
        </p:txBody>
      </p:sp>
      <p:sp>
        <p:nvSpPr>
          <p:cNvPr id="22" name="Shape 19"/>
          <p:cNvSpPr/>
          <p:nvPr/>
        </p:nvSpPr>
        <p:spPr>
          <a:xfrm>
            <a:off x="4625578" y="3466058"/>
            <a:ext cx="3946922" cy="1171575"/>
          </a:xfrm>
          <a:prstGeom prst="rect">
            <a:avLst/>
          </a:prstGeom>
          <a:solidFill>
            <a:srgbClr val="00D9FF">
              <a:alpha val="5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4625578" y="3466058"/>
            <a:ext cx="3946922" cy="21431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24" name="Text 21"/>
          <p:cNvSpPr/>
          <p:nvPr/>
        </p:nvSpPr>
        <p:spPr>
          <a:xfrm>
            <a:off x="4768453" y="3608933"/>
            <a:ext cx="3661172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00D9FF"/>
                </a:solidFill>
              </a:rPr>
              <a:t>04</a:t>
            </a:r>
            <a:endParaRPr lang="en-US" sz="1193" dirty="0"/>
          </a:p>
        </p:txBody>
      </p:sp>
      <p:sp>
        <p:nvSpPr>
          <p:cNvPr id="25" name="Text 22"/>
          <p:cNvSpPr/>
          <p:nvPr/>
        </p:nvSpPr>
        <p:spPr>
          <a:xfrm>
            <a:off x="4768453" y="3923258"/>
            <a:ext cx="3661172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E8EEF5"/>
                </a:solidFill>
              </a:rPr>
              <a:t>Seamless CI/CD Integration</a:t>
            </a:r>
            <a:endParaRPr lang="en-US" sz="885" dirty="0"/>
          </a:p>
        </p:txBody>
      </p:sp>
      <p:sp>
        <p:nvSpPr>
          <p:cNvPr id="26" name="Text 23"/>
          <p:cNvSpPr/>
          <p:nvPr/>
        </p:nvSpPr>
        <p:spPr>
          <a:xfrm>
            <a:off x="4768453" y="4173289"/>
            <a:ext cx="3661172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8EEF5">
                    <a:alpha val="85000"/>
                  </a:srgbClr>
                </a:solidFill>
              </a:rPr>
              <a:t>Continuous quality feedback enables teams to ship faster with confidence, eliminating quality-related delays.</a:t>
            </a:r>
            <a:endParaRPr lang="en-US" sz="727" dirty="0"/>
          </a:p>
        </p:txBody>
      </p:sp>
      <p:sp>
        <p:nvSpPr>
          <p:cNvPr id="27" name="Text 24"/>
          <p:cNvSpPr/>
          <p:nvPr/>
        </p:nvSpPr>
        <p:spPr>
          <a:xfrm>
            <a:off x="571500" y="4873377"/>
            <a:ext cx="159651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10B981"/>
                </a:solidFill>
              </a:rPr>
              <a:t>70%</a:t>
            </a:r>
            <a:endParaRPr lang="en-US" sz="1602" dirty="0"/>
          </a:p>
        </p:txBody>
      </p:sp>
      <p:sp>
        <p:nvSpPr>
          <p:cNvPr id="28" name="Text 25"/>
          <p:cNvSpPr/>
          <p:nvPr/>
        </p:nvSpPr>
        <p:spPr>
          <a:xfrm>
            <a:off x="571500" y="5216277"/>
            <a:ext cx="1596517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8EEF5">
                    <a:alpha val="80000"/>
                  </a:srgbClr>
                </a:solidFill>
              </a:rPr>
              <a:t>Reduction in test maintenance effort</a:t>
            </a:r>
            <a:endParaRPr lang="en-US" sz="674" dirty="0"/>
          </a:p>
        </p:txBody>
      </p:sp>
      <p:sp>
        <p:nvSpPr>
          <p:cNvPr id="29" name="Text 26"/>
          <p:cNvSpPr/>
          <p:nvPr/>
        </p:nvSpPr>
        <p:spPr>
          <a:xfrm>
            <a:off x="4064822" y="4873377"/>
            <a:ext cx="120804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7C3AED"/>
                </a:solidFill>
              </a:rPr>
              <a:t>50%</a:t>
            </a:r>
            <a:endParaRPr lang="en-US" sz="1602" dirty="0"/>
          </a:p>
        </p:txBody>
      </p:sp>
      <p:sp>
        <p:nvSpPr>
          <p:cNvPr id="30" name="Text 27"/>
          <p:cNvSpPr/>
          <p:nvPr/>
        </p:nvSpPr>
        <p:spPr>
          <a:xfrm>
            <a:off x="4064822" y="5216277"/>
            <a:ext cx="1208047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8EEF5">
                    <a:alpha val="80000"/>
                  </a:srgbClr>
                </a:solidFill>
              </a:rPr>
              <a:t>Increase in defect detection</a:t>
            </a:r>
            <a:endParaRPr lang="en-US" sz="674" dirty="0"/>
          </a:p>
        </p:txBody>
      </p:sp>
      <p:sp>
        <p:nvSpPr>
          <p:cNvPr id="31" name="Text 28"/>
          <p:cNvSpPr/>
          <p:nvPr/>
        </p:nvSpPr>
        <p:spPr>
          <a:xfrm>
            <a:off x="7169674" y="4873377"/>
            <a:ext cx="140279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00D9FF"/>
                </a:solidFill>
              </a:rPr>
              <a:t>Accelerated</a:t>
            </a:r>
            <a:endParaRPr lang="en-US" sz="1602" dirty="0"/>
          </a:p>
        </p:txBody>
      </p:sp>
      <p:sp>
        <p:nvSpPr>
          <p:cNvPr id="32" name="Text 29"/>
          <p:cNvSpPr/>
          <p:nvPr/>
        </p:nvSpPr>
        <p:spPr>
          <a:xfrm>
            <a:off x="7169674" y="5216277"/>
            <a:ext cx="1402798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8EEF5">
                    <a:alpha val="80000"/>
                  </a:srgbClr>
                </a:solidFill>
              </a:rPr>
              <a:t>Release velocity with confidence</a:t>
            </a:r>
            <a:endParaRPr lang="en-US" sz="67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3171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357188"/>
            <a:ext cx="8143875" cy="3086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0D9FF"/>
                </a:solidFill>
              </a:rPr>
              <a:t>Framework Architecture - Four Integrated Layers</a:t>
            </a:r>
            <a:endParaRPr lang="en-US" sz="1808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63" y="987261"/>
            <a:ext cx="3571875" cy="3429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00063" y="4523417"/>
            <a:ext cx="3571875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8EEF5">
                    <a:alpha val="70000"/>
                  </a:srgbClr>
                </a:solidFill>
              </a:rPr>
              <a:t>Modular, layered architecture enables progressive adoption</a:t>
            </a:r>
            <a:endParaRPr lang="en-US" sz="674" dirty="0"/>
          </a:p>
        </p:txBody>
      </p:sp>
      <p:sp>
        <p:nvSpPr>
          <p:cNvPr id="6" name="Text 2"/>
          <p:cNvSpPr/>
          <p:nvPr/>
        </p:nvSpPr>
        <p:spPr>
          <a:xfrm>
            <a:off x="4357688" y="987261"/>
            <a:ext cx="4286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E8EEF5"/>
                </a:solidFill>
              </a:rPr>
              <a:t>The framework is organized into four distinct but interconnected layers, each addressing a critical aspect of test automation quality.</a:t>
            </a:r>
            <a:endParaRPr lang="en-US" sz="780" dirty="0"/>
          </a:p>
        </p:txBody>
      </p:sp>
      <p:sp>
        <p:nvSpPr>
          <p:cNvPr id="7" name="Shape 3"/>
          <p:cNvSpPr/>
          <p:nvPr/>
        </p:nvSpPr>
        <p:spPr>
          <a:xfrm>
            <a:off x="4357688" y="1473036"/>
            <a:ext cx="4286250" cy="925116"/>
          </a:xfrm>
          <a:prstGeom prst="rect">
            <a:avLst/>
          </a:prstGeom>
          <a:solidFill>
            <a:srgbClr val="00D9FF">
              <a:alpha val="5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4357688" y="1473036"/>
            <a:ext cx="28575" cy="925116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9" name="Text 5"/>
          <p:cNvSpPr/>
          <p:nvPr/>
        </p:nvSpPr>
        <p:spPr>
          <a:xfrm>
            <a:off x="4514850" y="1601623"/>
            <a:ext cx="397192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D9FF"/>
                </a:solidFill>
              </a:rPr>
              <a:t>1. Reliability Layer</a:t>
            </a:r>
            <a:endParaRPr lang="en-US" sz="885" dirty="0"/>
          </a:p>
        </p:txBody>
      </p:sp>
      <p:sp>
        <p:nvSpPr>
          <p:cNvPr id="10" name="Text 6"/>
          <p:cNvSpPr/>
          <p:nvPr/>
        </p:nvSpPr>
        <p:spPr>
          <a:xfrm>
            <a:off x="4514850" y="1851654"/>
            <a:ext cx="3971925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E8EEF5">
                    <a:alpha val="85000"/>
                  </a:srgbClr>
                </a:solidFill>
              </a:rPr>
              <a:t>State Synchronization Store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E8EEF5">
                    <a:alpha val="85000"/>
                  </a:srgbClr>
                </a:solidFill>
              </a:rPr>
              <a:t> tracks application state for graceful recovery. 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E8EEF5">
                    <a:alpha val="85000"/>
                  </a:srgbClr>
                </a:solidFill>
              </a:rPr>
              <a:t>Deterministic Replay Engine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E8EEF5">
                    <a:alpha val="85000"/>
                  </a:srgbClr>
                </a:solidFill>
              </a:rPr>
              <a:t> enables pixel-perfect test reproduction. 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E8EEF5">
                    <a:alpha val="85000"/>
                  </a:srgbClr>
                </a:solidFill>
              </a:rPr>
              <a:t>Adaptive Wait Service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E8EEF5">
                    <a:alpha val="85000"/>
                  </a:srgbClr>
                </a:solidFill>
              </a:rPr>
              <a:t> uses AI-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E8EEF5">
                    <a:alpha val="85000"/>
                  </a:srgbClr>
                </a:solidFill>
              </a:rPr>
              <a:t>powered visual stability detection.</a:t>
            </a:r>
            <a:endParaRPr lang="en-US" sz="634" dirty="0"/>
          </a:p>
        </p:txBody>
      </p:sp>
      <p:sp>
        <p:nvSpPr>
          <p:cNvPr id="11" name="Shape 7"/>
          <p:cNvSpPr/>
          <p:nvPr/>
        </p:nvSpPr>
        <p:spPr>
          <a:xfrm>
            <a:off x="4357688" y="2483876"/>
            <a:ext cx="4286250" cy="925116"/>
          </a:xfrm>
          <a:prstGeom prst="rect">
            <a:avLst/>
          </a:prstGeom>
          <a:solidFill>
            <a:srgbClr val="00D9FF">
              <a:alpha val="5000"/>
            </a:srgbClr>
          </a:solidFill>
          <a:ln/>
        </p:spPr>
      </p:sp>
      <p:sp>
        <p:nvSpPr>
          <p:cNvPr id="12" name="Shape 8"/>
          <p:cNvSpPr/>
          <p:nvPr/>
        </p:nvSpPr>
        <p:spPr>
          <a:xfrm>
            <a:off x="4357688" y="2483876"/>
            <a:ext cx="28575" cy="92511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9"/>
          <p:cNvSpPr/>
          <p:nvPr/>
        </p:nvSpPr>
        <p:spPr>
          <a:xfrm>
            <a:off x="4514850" y="2612464"/>
            <a:ext cx="397192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7C3AED"/>
                </a:solidFill>
              </a:rPr>
              <a:t>2. Resilience &amp; Recovery Layer</a:t>
            </a:r>
            <a:endParaRPr lang="en-US" sz="885" dirty="0"/>
          </a:p>
        </p:txBody>
      </p:sp>
      <p:sp>
        <p:nvSpPr>
          <p:cNvPr id="14" name="Text 10"/>
          <p:cNvSpPr/>
          <p:nvPr/>
        </p:nvSpPr>
        <p:spPr>
          <a:xfrm>
            <a:off x="4514850" y="2862495"/>
            <a:ext cx="3971925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E8EEF5">
                    <a:alpha val="85000"/>
                  </a:srgbClr>
                </a:solidFill>
              </a:rPr>
              <a:t>Heuristic Recovery Engine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E8EEF5">
                    <a:alpha val="85000"/>
                  </a:srgbClr>
                </a:solidFill>
              </a:rPr>
              <a:t> implements intelligent fallback strategies. 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E8EEF5">
                    <a:alpha val="85000"/>
                  </a:srgbClr>
                </a:solidFill>
              </a:rPr>
              <a:t>Hot-Swappable Module Manager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E8EEF5">
                    <a:alpha val="85000"/>
                  </a:srgbClr>
                </a:solidFill>
              </a:rPr>
              <a:t> monitors adapter health and enables dynamic reloading. 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E8EEF5">
                    <a:alpha val="85000"/>
                  </a:srgbClr>
                </a:solidFill>
              </a:rPr>
              <a:t>Chaos Engineering Controller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E8EEF5">
                    <a:alpha val="85000"/>
                  </a:srgbClr>
                </a:solidFill>
              </a:rPr>
              <a:t> proactively tests system resilience.</a:t>
            </a:r>
            <a:endParaRPr lang="en-US" sz="634" dirty="0"/>
          </a:p>
        </p:txBody>
      </p:sp>
      <p:sp>
        <p:nvSpPr>
          <p:cNvPr id="15" name="Shape 11"/>
          <p:cNvSpPr/>
          <p:nvPr/>
        </p:nvSpPr>
        <p:spPr>
          <a:xfrm>
            <a:off x="4357688" y="3494717"/>
            <a:ext cx="4286250" cy="925116"/>
          </a:xfrm>
          <a:prstGeom prst="rect">
            <a:avLst/>
          </a:prstGeom>
          <a:solidFill>
            <a:srgbClr val="00D9FF">
              <a:alpha val="5000"/>
            </a:srgbClr>
          </a:solidFill>
          <a:ln/>
        </p:spPr>
      </p:sp>
      <p:sp>
        <p:nvSpPr>
          <p:cNvPr id="16" name="Shape 12"/>
          <p:cNvSpPr/>
          <p:nvPr/>
        </p:nvSpPr>
        <p:spPr>
          <a:xfrm>
            <a:off x="4357688" y="3494717"/>
            <a:ext cx="28575" cy="92511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3"/>
          <p:cNvSpPr/>
          <p:nvPr/>
        </p:nvSpPr>
        <p:spPr>
          <a:xfrm>
            <a:off x="4514850" y="3623304"/>
            <a:ext cx="397192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0B981"/>
                </a:solidFill>
              </a:rPr>
              <a:t>3. Self-Healing Intelligence Layer</a:t>
            </a:r>
            <a:endParaRPr lang="en-US" sz="885" dirty="0"/>
          </a:p>
        </p:txBody>
      </p:sp>
      <p:sp>
        <p:nvSpPr>
          <p:cNvPr id="18" name="Text 14"/>
          <p:cNvSpPr/>
          <p:nvPr/>
        </p:nvSpPr>
        <p:spPr>
          <a:xfrm>
            <a:off x="4514850" y="3873336"/>
            <a:ext cx="3971925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E8EEF5">
                    <a:alpha val="85000"/>
                  </a:srgbClr>
                </a:solidFill>
              </a:rPr>
              <a:t>AI Locator Healing Service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E8EEF5">
                    <a:alpha val="85000"/>
                  </a:srgbClr>
                </a:solidFill>
              </a:rPr>
              <a:t> uses vision embeddings to identify new element locators. 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E8EEF5">
                    <a:alpha val="85000"/>
                  </a:srgbClr>
                </a:solidFill>
              </a:rPr>
              <a:t>Anomaly Learning Engine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E8EEF5">
                    <a:alpha val="85000"/>
                  </a:srgbClr>
                </a:solidFill>
              </a:rPr>
              <a:t> applies reinforcement learning to failure patterns. 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E8EEF5">
                    <a:alpha val="85000"/>
                  </a:srgbClr>
                </a:solidFill>
              </a:rPr>
              <a:t>Environment Drift Detector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E8EEF5">
                    <a:alpha val="85000"/>
                  </a:srgbClr>
                </a:solidFill>
              </a:rPr>
              <a:t> compares UI snapshots to trigger healing.</a:t>
            </a:r>
            <a:endParaRPr lang="en-US" sz="634" dirty="0"/>
          </a:p>
        </p:txBody>
      </p:sp>
      <p:sp>
        <p:nvSpPr>
          <p:cNvPr id="19" name="Shape 15"/>
          <p:cNvSpPr/>
          <p:nvPr/>
        </p:nvSpPr>
        <p:spPr>
          <a:xfrm>
            <a:off x="4357688" y="4505558"/>
            <a:ext cx="4286250" cy="785813"/>
          </a:xfrm>
          <a:prstGeom prst="rect">
            <a:avLst/>
          </a:prstGeom>
          <a:solidFill>
            <a:srgbClr val="00D9FF">
              <a:alpha val="5000"/>
            </a:srgbClr>
          </a:solidFill>
          <a:ln/>
        </p:spPr>
      </p:sp>
      <p:sp>
        <p:nvSpPr>
          <p:cNvPr id="20" name="Shape 16"/>
          <p:cNvSpPr/>
          <p:nvPr/>
        </p:nvSpPr>
        <p:spPr>
          <a:xfrm>
            <a:off x="4357688" y="4505558"/>
            <a:ext cx="28575" cy="785813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21" name="Text 17"/>
          <p:cNvSpPr/>
          <p:nvPr/>
        </p:nvSpPr>
        <p:spPr>
          <a:xfrm>
            <a:off x="4514850" y="4634145"/>
            <a:ext cx="397192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D9FF"/>
                </a:solidFill>
              </a:rPr>
              <a:t>4. Continuous Monitoring Layer</a:t>
            </a:r>
            <a:endParaRPr lang="en-US" sz="885" dirty="0"/>
          </a:p>
        </p:txBody>
      </p:sp>
      <p:sp>
        <p:nvSpPr>
          <p:cNvPr id="22" name="Text 18"/>
          <p:cNvSpPr/>
          <p:nvPr/>
        </p:nvSpPr>
        <p:spPr>
          <a:xfrm>
            <a:off x="4514850" y="4884176"/>
            <a:ext cx="397192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E8EEF5">
                    <a:alpha val="85000"/>
                  </a:srgbClr>
                </a:solidFill>
              </a:rPr>
              <a:t>Telemetry &amp; Metrics Service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E8EEF5">
                    <a:alpha val="85000"/>
                  </a:srgbClr>
                </a:solidFill>
              </a:rPr>
              <a:t> provides real-time visibility through dashboards. 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E8EEF5">
                    <a:alpha val="85000"/>
                  </a:srgbClr>
                </a:solidFill>
              </a:rPr>
              <a:t>Reliability Scoring Engine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E8EEF5">
                    <a:alpha val="85000"/>
                  </a:srgbClr>
                </a:solidFill>
              </a:rPr>
              <a:t> enables data-driven optimization of testing efforts.</a:t>
            </a:r>
            <a:endParaRPr lang="en-US" sz="634" dirty="0"/>
          </a:p>
        </p:txBody>
      </p:sp>
      <p:sp>
        <p:nvSpPr>
          <p:cNvPr id="23" name="Shape 19"/>
          <p:cNvSpPr/>
          <p:nvPr/>
        </p:nvSpPr>
        <p:spPr>
          <a:xfrm>
            <a:off x="4357688" y="5434245"/>
            <a:ext cx="4286250" cy="525735"/>
          </a:xfrm>
          <a:prstGeom prst="rect">
            <a:avLst/>
          </a:prstGeom>
          <a:solidFill>
            <a:srgbClr val="7C3AED">
              <a:alpha val="8000"/>
            </a:srgbClr>
          </a:solidFill>
          <a:ln w="9144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464844" y="5541401"/>
            <a:ext cx="4071938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7C3AED"/>
                </a:solidFill>
              </a:rPr>
              <a:t>Design Principle: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8EEF5"/>
                </a:solidFill>
              </a:rPr>
              <a:t> Each layer can be deployed independently, allowing teams to adopt 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8EEF5"/>
                </a:solidFill>
              </a:rPr>
              <a:t>capabilities progressively based on their maturity and needs.</a:t>
            </a:r>
            <a:endParaRPr lang="en-US" sz="63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357188"/>
            <a:ext cx="8143875" cy="3086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0D9FF"/>
                </a:solidFill>
              </a:rPr>
              <a:t>Self-Healing Intelligence - How AI Fixes Broken Tests</a:t>
            </a:r>
            <a:endParaRPr lang="en-US" sz="1808" dirty="0"/>
          </a:p>
        </p:txBody>
      </p:sp>
      <p:sp>
        <p:nvSpPr>
          <p:cNvPr id="4" name="Text 1"/>
          <p:cNvSpPr/>
          <p:nvPr/>
        </p:nvSpPr>
        <p:spPr>
          <a:xfrm>
            <a:off x="500063" y="987261"/>
            <a:ext cx="78581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E8EEF5"/>
                </a:solidFill>
              </a:rPr>
              <a:t>When a test fails due to a changed UI element, the Self-Healing Intelligence Layer initiates a sophisticated recovery process that combines computer vision, semantic search, and machine learning to automatically identify and update element locators.</a:t>
            </a:r>
            <a:endParaRPr lang="en-US" sz="780" dirty="0"/>
          </a:p>
        </p:txBody>
      </p:sp>
      <p:sp>
        <p:nvSpPr>
          <p:cNvPr id="5" name="Text 2"/>
          <p:cNvSpPr/>
          <p:nvPr/>
        </p:nvSpPr>
        <p:spPr>
          <a:xfrm>
            <a:off x="500063" y="1508754"/>
            <a:ext cx="8143875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34" b="1" spc="1" kern="0" dirty="0">
                <a:solidFill>
                  <a:srgbClr val="7C3AED"/>
                </a:solidFill>
              </a:rPr>
              <a:t>Autonomous Healing Process</a:t>
            </a:r>
            <a:endParaRPr lang="en-US" sz="634" dirty="0"/>
          </a:p>
        </p:txBody>
      </p:sp>
      <p:sp>
        <p:nvSpPr>
          <p:cNvPr id="6" name="Shape 3"/>
          <p:cNvSpPr/>
          <p:nvPr/>
        </p:nvSpPr>
        <p:spPr>
          <a:xfrm>
            <a:off x="500063" y="1764478"/>
            <a:ext cx="1955602" cy="1327286"/>
          </a:xfrm>
          <a:prstGeom prst="rect">
            <a:avLst/>
          </a:prstGeom>
          <a:solidFill>
            <a:srgbClr val="00D9FF">
              <a:alpha val="5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500063" y="1764478"/>
            <a:ext cx="1955602" cy="21431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8" name="Text 5"/>
          <p:cNvSpPr/>
          <p:nvPr/>
        </p:nvSpPr>
        <p:spPr>
          <a:xfrm>
            <a:off x="642938" y="1907353"/>
            <a:ext cx="166985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00D9FF"/>
                </a:solidFill>
              </a:rPr>
              <a:t>STEP 1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642938" y="2178816"/>
            <a:ext cx="166985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E8EEF5"/>
                </a:solidFill>
              </a:rPr>
              <a:t>Analyze Historical Context</a:t>
            </a:r>
            <a:endParaRPr lang="en-US" sz="784" dirty="0"/>
          </a:p>
        </p:txBody>
      </p:sp>
      <p:sp>
        <p:nvSpPr>
          <p:cNvPr id="10" name="Text 7"/>
          <p:cNvSpPr/>
          <p:nvPr/>
        </p:nvSpPr>
        <p:spPr>
          <a:xfrm>
            <a:off x="642938" y="2407416"/>
            <a:ext cx="1669852" cy="5200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E8EEF5">
                    <a:alpha val="85000"/>
                  </a:srgbClr>
                </a:solidFill>
              </a:rPr>
              <a:t>System analyzes historical screenshots and DOM metadata to understand the element's previous context and appearance.</a:t>
            </a:r>
            <a:endParaRPr lang="en-US" sz="674" dirty="0"/>
          </a:p>
        </p:txBody>
      </p:sp>
      <p:sp>
        <p:nvSpPr>
          <p:cNvPr id="11" name="Shape 8"/>
          <p:cNvSpPr/>
          <p:nvPr/>
        </p:nvSpPr>
        <p:spPr>
          <a:xfrm>
            <a:off x="2562820" y="1764478"/>
            <a:ext cx="1955602" cy="1327286"/>
          </a:xfrm>
          <a:prstGeom prst="rect">
            <a:avLst/>
          </a:prstGeom>
          <a:solidFill>
            <a:srgbClr val="00D9FF">
              <a:alpha val="5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2562820" y="1764478"/>
            <a:ext cx="1955602" cy="21431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0"/>
          <p:cNvSpPr/>
          <p:nvPr/>
        </p:nvSpPr>
        <p:spPr>
          <a:xfrm>
            <a:off x="2705695" y="1907353"/>
            <a:ext cx="166985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7C3AED"/>
                </a:solidFill>
              </a:rPr>
              <a:t>STEP 2</a:t>
            </a:r>
            <a:endParaRPr lang="en-US" sz="987" dirty="0"/>
          </a:p>
        </p:txBody>
      </p:sp>
      <p:sp>
        <p:nvSpPr>
          <p:cNvPr id="14" name="Text 11"/>
          <p:cNvSpPr/>
          <p:nvPr/>
        </p:nvSpPr>
        <p:spPr>
          <a:xfrm>
            <a:off x="2705695" y="2178816"/>
            <a:ext cx="166985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E8EEF5"/>
                </a:solidFill>
              </a:rPr>
              <a:t>Vision-Based Search</a:t>
            </a:r>
            <a:endParaRPr lang="en-US" sz="784" dirty="0"/>
          </a:p>
        </p:txBody>
      </p:sp>
      <p:sp>
        <p:nvSpPr>
          <p:cNvPr id="15" name="Text 12"/>
          <p:cNvSpPr/>
          <p:nvPr/>
        </p:nvSpPr>
        <p:spPr>
          <a:xfrm>
            <a:off x="2705695" y="2407416"/>
            <a:ext cx="1669852" cy="5200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E8EEF5">
                    <a:alpha val="85000"/>
                  </a:srgbClr>
                </a:solidFill>
              </a:rPr>
              <a:t>Computer vision embeddings perform semantic search across current UI to identify element's new location.</a:t>
            </a:r>
            <a:endParaRPr lang="en-US" sz="674" dirty="0"/>
          </a:p>
        </p:txBody>
      </p:sp>
      <p:sp>
        <p:nvSpPr>
          <p:cNvPr id="16" name="Shape 13"/>
          <p:cNvSpPr/>
          <p:nvPr/>
        </p:nvSpPr>
        <p:spPr>
          <a:xfrm>
            <a:off x="4625578" y="1764478"/>
            <a:ext cx="1955602" cy="1305855"/>
          </a:xfrm>
          <a:prstGeom prst="rect">
            <a:avLst/>
          </a:prstGeom>
          <a:solidFill>
            <a:srgbClr val="00D9FF">
              <a:alpha val="5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4625578" y="1764478"/>
            <a:ext cx="1955602" cy="21431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5"/>
          <p:cNvSpPr/>
          <p:nvPr/>
        </p:nvSpPr>
        <p:spPr>
          <a:xfrm>
            <a:off x="4768453" y="1907353"/>
            <a:ext cx="166985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10B981"/>
                </a:solidFill>
              </a:rPr>
              <a:t>STEP 3</a:t>
            </a:r>
            <a:endParaRPr lang="en-US" sz="987" dirty="0"/>
          </a:p>
        </p:txBody>
      </p:sp>
      <p:sp>
        <p:nvSpPr>
          <p:cNvPr id="19" name="Text 16"/>
          <p:cNvSpPr/>
          <p:nvPr/>
        </p:nvSpPr>
        <p:spPr>
          <a:xfrm>
            <a:off x="4768453" y="2178816"/>
            <a:ext cx="166985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E8EEF5"/>
                </a:solidFill>
              </a:rPr>
              <a:t>Evaluate Candidates</a:t>
            </a:r>
            <a:endParaRPr lang="en-US" sz="784" dirty="0"/>
          </a:p>
        </p:txBody>
      </p:sp>
      <p:sp>
        <p:nvSpPr>
          <p:cNvPr id="20" name="Text 17"/>
          <p:cNvSpPr/>
          <p:nvPr/>
        </p:nvSpPr>
        <p:spPr>
          <a:xfrm>
            <a:off x="4768453" y="2407416"/>
            <a:ext cx="1669852" cy="390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E8EEF5">
                    <a:alpha val="85000"/>
                  </a:srgbClr>
                </a:solidFill>
              </a:rPr>
              <a:t>Scoring algorithm considers visual similarity, textual content, spatial relationships, and functional context.</a:t>
            </a:r>
            <a:endParaRPr lang="en-US" sz="674" dirty="0"/>
          </a:p>
        </p:txBody>
      </p:sp>
      <p:sp>
        <p:nvSpPr>
          <p:cNvPr id="21" name="Shape 18"/>
          <p:cNvSpPr/>
          <p:nvPr/>
        </p:nvSpPr>
        <p:spPr>
          <a:xfrm>
            <a:off x="6688336" y="1764478"/>
            <a:ext cx="1955602" cy="1305855"/>
          </a:xfrm>
          <a:prstGeom prst="rect">
            <a:avLst/>
          </a:prstGeom>
          <a:solidFill>
            <a:srgbClr val="00D9FF">
              <a:alpha val="5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6688336" y="1764478"/>
            <a:ext cx="1955602" cy="21431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23" name="Text 20"/>
          <p:cNvSpPr/>
          <p:nvPr/>
        </p:nvSpPr>
        <p:spPr>
          <a:xfrm>
            <a:off x="6831211" y="1907353"/>
            <a:ext cx="166985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00D9FF"/>
                </a:solidFill>
              </a:rPr>
              <a:t>STEP 4</a:t>
            </a:r>
            <a:endParaRPr lang="en-US" sz="987" dirty="0"/>
          </a:p>
        </p:txBody>
      </p:sp>
      <p:sp>
        <p:nvSpPr>
          <p:cNvPr id="24" name="Text 21"/>
          <p:cNvSpPr/>
          <p:nvPr/>
        </p:nvSpPr>
        <p:spPr>
          <a:xfrm>
            <a:off x="6831211" y="2178816"/>
            <a:ext cx="166985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E8EEF5"/>
                </a:solidFill>
              </a:rPr>
              <a:t>Auto-Update &amp; Persist</a:t>
            </a:r>
            <a:endParaRPr lang="en-US" sz="784" dirty="0"/>
          </a:p>
        </p:txBody>
      </p:sp>
      <p:sp>
        <p:nvSpPr>
          <p:cNvPr id="25" name="Text 22"/>
          <p:cNvSpPr/>
          <p:nvPr/>
        </p:nvSpPr>
        <p:spPr>
          <a:xfrm>
            <a:off x="6831211" y="2407416"/>
            <a:ext cx="1669852" cy="390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E8EEF5">
                    <a:alpha val="85000"/>
                  </a:srgbClr>
                </a:solidFill>
              </a:rPr>
              <a:t>High-confidence matches (&gt;85%) trigger automatic locator updates and pull request creation for review.</a:t>
            </a:r>
            <a:endParaRPr lang="en-US" sz="674" dirty="0"/>
          </a:p>
        </p:txBody>
      </p:sp>
      <p:sp>
        <p:nvSpPr>
          <p:cNvPr id="26" name="Text 23"/>
          <p:cNvSpPr/>
          <p:nvPr/>
        </p:nvSpPr>
        <p:spPr>
          <a:xfrm>
            <a:off x="500063" y="3248927"/>
            <a:ext cx="785812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E8EEF5"/>
                </a:solidFill>
              </a:rPr>
              <a:t>This process occurs transparently during test execution. If healing succeeds, the test continues without interruption. The updated locator is persisted to a learning database, improving future healing accuracy. Over time, the system builds comprehensive understanding of UI patterns, enabling it to predict and prevent failures before they occur.</a:t>
            </a:r>
            <a:endParaRPr lang="en-US" sz="780" dirty="0"/>
          </a:p>
        </p:txBody>
      </p:sp>
      <p:sp>
        <p:nvSpPr>
          <p:cNvPr id="27" name="Shape 24"/>
          <p:cNvSpPr/>
          <p:nvPr/>
        </p:nvSpPr>
        <p:spPr>
          <a:xfrm>
            <a:off x="500063" y="3906152"/>
            <a:ext cx="2619356" cy="678656"/>
          </a:xfrm>
          <a:prstGeom prst="rect">
            <a:avLst/>
          </a:prstGeom>
          <a:solidFill>
            <a:srgbClr val="7C3AED">
              <a:alpha val="8000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607219" y="4013309"/>
            <a:ext cx="2405044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10B981"/>
                </a:solidFill>
              </a:rPr>
              <a:t>60-80%</a:t>
            </a:r>
            <a:endParaRPr lang="en-US" sz="1397" dirty="0"/>
          </a:p>
        </p:txBody>
      </p:sp>
      <p:sp>
        <p:nvSpPr>
          <p:cNvPr id="29" name="Text 26"/>
          <p:cNvSpPr/>
          <p:nvPr/>
        </p:nvSpPr>
        <p:spPr>
          <a:xfrm>
            <a:off x="607219" y="4349065"/>
            <a:ext cx="240504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E8EEF5">
                    <a:alpha val="80000"/>
                  </a:srgbClr>
                </a:solidFill>
              </a:rPr>
              <a:t>Reduction in test maintenance effort</a:t>
            </a:r>
            <a:endParaRPr lang="en-US" sz="621" dirty="0"/>
          </a:p>
        </p:txBody>
      </p:sp>
      <p:sp>
        <p:nvSpPr>
          <p:cNvPr id="30" name="Shape 27"/>
          <p:cNvSpPr/>
          <p:nvPr/>
        </p:nvSpPr>
        <p:spPr>
          <a:xfrm>
            <a:off x="3262294" y="3906152"/>
            <a:ext cx="2619384" cy="678656"/>
          </a:xfrm>
          <a:prstGeom prst="rect">
            <a:avLst/>
          </a:prstGeom>
          <a:solidFill>
            <a:srgbClr val="7C3AED">
              <a:alpha val="8000"/>
            </a:srgbClr>
          </a:solidFill>
          <a:ln/>
        </p:spPr>
      </p:sp>
      <p:sp>
        <p:nvSpPr>
          <p:cNvPr id="31" name="Text 28"/>
          <p:cNvSpPr/>
          <p:nvPr/>
        </p:nvSpPr>
        <p:spPr>
          <a:xfrm>
            <a:off x="3369450" y="4013309"/>
            <a:ext cx="2405072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00D9FF"/>
                </a:solidFill>
              </a:rPr>
              <a:t>90%</a:t>
            </a:r>
            <a:endParaRPr lang="en-US" sz="1397" dirty="0"/>
          </a:p>
        </p:txBody>
      </p:sp>
      <p:sp>
        <p:nvSpPr>
          <p:cNvPr id="32" name="Text 29"/>
          <p:cNvSpPr/>
          <p:nvPr/>
        </p:nvSpPr>
        <p:spPr>
          <a:xfrm>
            <a:off x="3369450" y="4349065"/>
            <a:ext cx="240507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E8EEF5">
                    <a:alpha val="80000"/>
                  </a:srgbClr>
                </a:solidFill>
              </a:rPr>
              <a:t>Success rate in automatic locator healing</a:t>
            </a:r>
            <a:endParaRPr lang="en-US" sz="621" dirty="0"/>
          </a:p>
        </p:txBody>
      </p:sp>
      <p:sp>
        <p:nvSpPr>
          <p:cNvPr id="33" name="Shape 30"/>
          <p:cNvSpPr/>
          <p:nvPr/>
        </p:nvSpPr>
        <p:spPr>
          <a:xfrm>
            <a:off x="6024553" y="3906152"/>
            <a:ext cx="2619356" cy="678656"/>
          </a:xfrm>
          <a:prstGeom prst="rect">
            <a:avLst/>
          </a:prstGeom>
          <a:solidFill>
            <a:srgbClr val="7C3AED">
              <a:alpha val="8000"/>
            </a:srgbClr>
          </a:solidFill>
          <a:ln/>
        </p:spPr>
      </p:sp>
      <p:sp>
        <p:nvSpPr>
          <p:cNvPr id="34" name="Text 31"/>
          <p:cNvSpPr/>
          <p:nvPr/>
        </p:nvSpPr>
        <p:spPr>
          <a:xfrm>
            <a:off x="6131709" y="4013309"/>
            <a:ext cx="2405044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7C3AED"/>
                </a:solidFill>
              </a:rPr>
              <a:t>&gt;85%</a:t>
            </a:r>
            <a:endParaRPr lang="en-US" sz="1397" dirty="0"/>
          </a:p>
        </p:txBody>
      </p:sp>
      <p:sp>
        <p:nvSpPr>
          <p:cNvPr id="35" name="Text 32"/>
          <p:cNvSpPr/>
          <p:nvPr/>
        </p:nvSpPr>
        <p:spPr>
          <a:xfrm>
            <a:off x="6131709" y="4349065"/>
            <a:ext cx="240504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E8EEF5">
                    <a:alpha val="80000"/>
                  </a:srgbClr>
                </a:solidFill>
              </a:rPr>
              <a:t>Confidence threshold for auto-commit</a:t>
            </a:r>
            <a:endParaRPr lang="en-US" sz="62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5547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286750" cy="3086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0D9FF"/>
                </a:solidFill>
              </a:rPr>
              <a:t>Expanded Testing Scope - Beyond Functional Validation</a:t>
            </a:r>
            <a:endParaRPr lang="en-US" sz="1808" dirty="0"/>
          </a:p>
        </p:txBody>
      </p:sp>
      <p:sp>
        <p:nvSpPr>
          <p:cNvPr id="4" name="Text 1"/>
          <p:cNvSpPr/>
          <p:nvPr/>
        </p:nvSpPr>
        <p:spPr>
          <a:xfrm>
            <a:off x="428625" y="844386"/>
            <a:ext cx="7858125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E8EEF5"/>
                </a:solidFill>
              </a:rPr>
              <a:t>Holistic quality assurance requires validating security, performance, accessibility, and data integrity in addition to functional correctness</a:t>
            </a:r>
            <a:endParaRPr lang="en-US" sz="784" dirty="0"/>
          </a:p>
        </p:txBody>
      </p:sp>
      <p:sp>
        <p:nvSpPr>
          <p:cNvPr id="5" name="Text 2"/>
          <p:cNvSpPr/>
          <p:nvPr/>
        </p:nvSpPr>
        <p:spPr>
          <a:xfrm>
            <a:off x="428625" y="1234418"/>
            <a:ext cx="1428750" cy="289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9FF"/>
                </a:solidFill>
              </a:rPr>
              <a:t>Security &amp; Privacy</a:t>
            </a:r>
            <a:endParaRPr lang="en-US" sz="784" dirty="0"/>
          </a:p>
        </p:txBody>
      </p:sp>
      <p:sp>
        <p:nvSpPr>
          <p:cNvPr id="6" name="Text 3"/>
          <p:cNvSpPr/>
          <p:nvPr/>
        </p:nvSpPr>
        <p:spPr>
          <a:xfrm>
            <a:off x="2000250" y="1234418"/>
            <a:ext cx="6715125" cy="289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8EEF5">
                    <a:alpha val="90000"/>
                  </a:srgbClr>
                </a:solidFill>
              </a:rPr>
              <a:t>Identify and mitigate security vulnerabilities and privacy risks through SAST, DAST, SCA tools, and API fuzzing to uncover weaknesses in code, dependencies, and runtime behavior.</a:t>
            </a:r>
            <a:endParaRPr lang="en-US" sz="727" dirty="0"/>
          </a:p>
        </p:txBody>
      </p:sp>
      <p:sp>
        <p:nvSpPr>
          <p:cNvPr id="7" name="Text 4"/>
          <p:cNvSpPr/>
          <p:nvPr/>
        </p:nvSpPr>
        <p:spPr>
          <a:xfrm>
            <a:off x="428625" y="1688716"/>
            <a:ext cx="1428750" cy="289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9FF"/>
                </a:solidFill>
              </a:rPr>
              <a:t>Performance &amp; Load</a:t>
            </a:r>
            <a:endParaRPr lang="en-US" sz="784" dirty="0"/>
          </a:p>
        </p:txBody>
      </p:sp>
      <p:sp>
        <p:nvSpPr>
          <p:cNvPr id="8" name="Text 5"/>
          <p:cNvSpPr/>
          <p:nvPr/>
        </p:nvSpPr>
        <p:spPr>
          <a:xfrm>
            <a:off x="2000250" y="1688716"/>
            <a:ext cx="6715125" cy="289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8EEF5">
                    <a:alpha val="90000"/>
                  </a:srgbClr>
                </a:solidFill>
              </a:rPr>
              <a:t>Ensure application responsiveness, scalability, and stability under load by embedding Lighthouse metrics collection and k6 load generation directly into test execution flow.</a:t>
            </a:r>
            <a:endParaRPr lang="en-US" sz="727" dirty="0"/>
          </a:p>
        </p:txBody>
      </p:sp>
      <p:sp>
        <p:nvSpPr>
          <p:cNvPr id="9" name="Text 6"/>
          <p:cNvSpPr/>
          <p:nvPr/>
        </p:nvSpPr>
        <p:spPr>
          <a:xfrm>
            <a:off x="428625" y="2143013"/>
            <a:ext cx="1428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9FF"/>
                </a:solidFill>
              </a:rPr>
              <a:t>Accessibility &amp; Compliance</a:t>
            </a:r>
            <a:endParaRPr lang="en-US" sz="784" dirty="0"/>
          </a:p>
        </p:txBody>
      </p:sp>
      <p:sp>
        <p:nvSpPr>
          <p:cNvPr id="10" name="Text 7"/>
          <p:cNvSpPr/>
          <p:nvPr/>
        </p:nvSpPr>
        <p:spPr>
          <a:xfrm>
            <a:off x="2000250" y="2143013"/>
            <a:ext cx="67151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8EEF5">
                    <a:alpha val="90000"/>
                  </a:srgbClr>
                </a:solidFill>
              </a:rPr>
              <a:t>Verify compliance with WCAG standards and regulations (GDPR, HIPAA) using axe-core and Pa11y to automatically scan every page, ensuring applications are usable by people with disabilities.</a:t>
            </a:r>
            <a:endParaRPr lang="en-US" sz="727" dirty="0"/>
          </a:p>
        </p:txBody>
      </p:sp>
      <p:sp>
        <p:nvSpPr>
          <p:cNvPr id="11" name="Text 8"/>
          <p:cNvSpPr/>
          <p:nvPr/>
        </p:nvSpPr>
        <p:spPr>
          <a:xfrm>
            <a:off x="428625" y="2650220"/>
            <a:ext cx="1428750" cy="289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9FF"/>
                </a:solidFill>
              </a:rPr>
              <a:t>API + UI Fusion</a:t>
            </a:r>
            <a:endParaRPr lang="en-US" sz="784" dirty="0"/>
          </a:p>
        </p:txBody>
      </p:sp>
      <p:sp>
        <p:nvSpPr>
          <p:cNvPr id="12" name="Text 9"/>
          <p:cNvSpPr/>
          <p:nvPr/>
        </p:nvSpPr>
        <p:spPr>
          <a:xfrm>
            <a:off x="2000250" y="2650220"/>
            <a:ext cx="6715125" cy="289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8EEF5">
                    <a:alpha val="90000"/>
                  </a:srgbClr>
                </a:solidFill>
              </a:rPr>
              <a:t>Validate consistency and integrity of data between API and UI by intercepting and validating API calls during UI tests, catching integration issues that pure UI or API testing would miss.</a:t>
            </a:r>
            <a:endParaRPr lang="en-US" sz="727" dirty="0"/>
          </a:p>
        </p:txBody>
      </p:sp>
      <p:sp>
        <p:nvSpPr>
          <p:cNvPr id="13" name="Text 10"/>
          <p:cNvSpPr/>
          <p:nvPr/>
        </p:nvSpPr>
        <p:spPr>
          <a:xfrm>
            <a:off x="428625" y="3104517"/>
            <a:ext cx="1428750" cy="289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9FF"/>
                </a:solidFill>
              </a:rPr>
              <a:t>Behavioral AI Persona</a:t>
            </a:r>
            <a:endParaRPr lang="en-US" sz="784" dirty="0"/>
          </a:p>
        </p:txBody>
      </p:sp>
      <p:sp>
        <p:nvSpPr>
          <p:cNvPr id="14" name="Text 11"/>
          <p:cNvSpPr/>
          <p:nvPr/>
        </p:nvSpPr>
        <p:spPr>
          <a:xfrm>
            <a:off x="2000250" y="3104517"/>
            <a:ext cx="6715125" cy="289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8EEF5">
                    <a:alpha val="90000"/>
                  </a:srgbClr>
                </a:solidFill>
              </a:rPr>
              <a:t>Discover UX defects by using large language models to simulate realistic user behaviors and personas, uncovering subtle issues that scripted tests overlook.</a:t>
            </a:r>
            <a:endParaRPr lang="en-US" sz="727" dirty="0"/>
          </a:p>
        </p:txBody>
      </p:sp>
      <p:sp>
        <p:nvSpPr>
          <p:cNvPr id="15" name="Text 12"/>
          <p:cNvSpPr/>
          <p:nvPr/>
        </p:nvSpPr>
        <p:spPr>
          <a:xfrm>
            <a:off x="428625" y="3558815"/>
            <a:ext cx="14287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9FF"/>
                </a:solidFill>
              </a:rPr>
              <a:t>Data Mutation Testing</a:t>
            </a:r>
            <a:endParaRPr lang="en-US" sz="784" dirty="0"/>
          </a:p>
        </p:txBody>
      </p:sp>
      <p:sp>
        <p:nvSpPr>
          <p:cNvPr id="16" name="Text 13"/>
          <p:cNvSpPr/>
          <p:nvPr/>
        </p:nvSpPr>
        <p:spPr>
          <a:xfrm>
            <a:off x="2000250" y="3558815"/>
            <a:ext cx="67151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8EEF5">
                    <a:alpha val="90000"/>
                  </a:srgbClr>
                </a:solidFill>
              </a:rPr>
              <a:t>Verify application robustness by injecting controlled errors into forms and APIs to validate error handling and recovery logic.</a:t>
            </a:r>
            <a:endParaRPr lang="en-US" sz="727" dirty="0"/>
          </a:p>
        </p:txBody>
      </p:sp>
      <p:sp>
        <p:nvSpPr>
          <p:cNvPr id="17" name="Text 14"/>
          <p:cNvSpPr/>
          <p:nvPr/>
        </p:nvSpPr>
        <p:spPr>
          <a:xfrm>
            <a:off x="428625" y="3894572"/>
            <a:ext cx="14287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9FF"/>
                </a:solidFill>
              </a:rPr>
              <a:t>Multi-Modal Verification</a:t>
            </a:r>
            <a:endParaRPr lang="en-US" sz="784" dirty="0"/>
          </a:p>
        </p:txBody>
      </p:sp>
      <p:sp>
        <p:nvSpPr>
          <p:cNvPr id="18" name="Text 15"/>
          <p:cNvSpPr/>
          <p:nvPr/>
        </p:nvSpPr>
        <p:spPr>
          <a:xfrm>
            <a:off x="2000250" y="3894572"/>
            <a:ext cx="67151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E8EEF5">
                    <a:alpha val="90000"/>
                  </a:srgbClr>
                </a:solidFill>
              </a:rPr>
              <a:t>Test non-visual application outputs including audio validation, video playback analysis, and file download verification.</a:t>
            </a:r>
            <a:endParaRPr lang="en-US" sz="727" dirty="0"/>
          </a:p>
        </p:txBody>
      </p:sp>
      <p:sp>
        <p:nvSpPr>
          <p:cNvPr id="19" name="Shape 16"/>
          <p:cNvSpPr/>
          <p:nvPr/>
        </p:nvSpPr>
        <p:spPr>
          <a:xfrm>
            <a:off x="428625" y="4373203"/>
            <a:ext cx="4036219" cy="895815"/>
          </a:xfrm>
          <a:prstGeom prst="rect">
            <a:avLst/>
          </a:prstGeom>
          <a:solidFill>
            <a:srgbClr val="7C3AED">
              <a:alpha val="8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542925" y="4487503"/>
            <a:ext cx="3807619" cy="4500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121" b="1" dirty="0">
                <a:solidFill>
                  <a:srgbClr val="7C3AED"/>
                </a:solidFill>
              </a:rPr>
              <a:t>360°</a:t>
            </a:r>
            <a:endParaRPr lang="en-US" sz="2121" dirty="0"/>
          </a:p>
        </p:txBody>
      </p:sp>
      <p:sp>
        <p:nvSpPr>
          <p:cNvPr id="21" name="Text 18"/>
          <p:cNvSpPr/>
          <p:nvPr/>
        </p:nvSpPr>
        <p:spPr>
          <a:xfrm>
            <a:off x="542925" y="4994709"/>
            <a:ext cx="3807619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E8EEF5"/>
                </a:solidFill>
              </a:rPr>
              <a:t>Comprehensive quality visibility across all dimensions</a:t>
            </a:r>
            <a:endParaRPr lang="en-US" sz="727" dirty="0"/>
          </a:p>
        </p:txBody>
      </p:sp>
      <p:sp>
        <p:nvSpPr>
          <p:cNvPr id="22" name="Shape 19"/>
          <p:cNvSpPr/>
          <p:nvPr/>
        </p:nvSpPr>
        <p:spPr>
          <a:xfrm>
            <a:off x="4679156" y="4373203"/>
            <a:ext cx="4036219" cy="895815"/>
          </a:xfrm>
          <a:prstGeom prst="rect">
            <a:avLst/>
          </a:prstGeom>
          <a:solidFill>
            <a:srgbClr val="10B981">
              <a:alpha val="8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4793456" y="4487503"/>
            <a:ext cx="3807619" cy="4500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121" b="1" dirty="0">
                <a:solidFill>
                  <a:srgbClr val="10B981"/>
                </a:solidFill>
              </a:rPr>
              <a:t>50%</a:t>
            </a:r>
            <a:endParaRPr lang="en-US" sz="2121" dirty="0"/>
          </a:p>
        </p:txBody>
      </p:sp>
      <p:sp>
        <p:nvSpPr>
          <p:cNvPr id="24" name="Text 21"/>
          <p:cNvSpPr/>
          <p:nvPr/>
        </p:nvSpPr>
        <p:spPr>
          <a:xfrm>
            <a:off x="4793456" y="4994709"/>
            <a:ext cx="3807619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E8EEF5"/>
                </a:solidFill>
              </a:rPr>
              <a:t>Reduction in production defects compared to functional testing alone</a:t>
            </a:r>
            <a:endParaRPr lang="en-US" sz="727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19636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0063" y="357188"/>
            <a:ext cx="911526" cy="2357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1"/>
          <p:cNvSpPr/>
          <p:nvPr/>
        </p:nvSpPr>
        <p:spPr>
          <a:xfrm>
            <a:off x="500063" y="357188"/>
            <a:ext cx="911526" cy="235744"/>
          </a:xfrm>
          <a:prstGeom prst="rect">
            <a:avLst/>
          </a:prstGeom>
          <a:noFill/>
          <a:ln/>
        </p:spPr>
        <p:txBody>
          <a:bodyPr wrap="square" lIns="136017" tIns="51054" rIns="136017" bIns="51054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spc="1" kern="0" dirty="0">
                <a:solidFill>
                  <a:srgbClr val="1A2332"/>
                </a:solidFill>
              </a:rPr>
              <a:t>MONTHS 0-6</a:t>
            </a:r>
            <a:endParaRPr lang="en-US" sz="683" dirty="0"/>
          </a:p>
        </p:txBody>
      </p:sp>
      <p:sp>
        <p:nvSpPr>
          <p:cNvPr id="5" name="Text 2"/>
          <p:cNvSpPr/>
          <p:nvPr/>
        </p:nvSpPr>
        <p:spPr>
          <a:xfrm>
            <a:off x="500063" y="664369"/>
            <a:ext cx="8143875" cy="3086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0D9FF"/>
                </a:solidFill>
              </a:rPr>
              <a:t>Phase 1 - Foundational Reliability</a:t>
            </a:r>
            <a:endParaRPr lang="en-US" sz="1808" dirty="0"/>
          </a:p>
        </p:txBody>
      </p:sp>
      <p:sp>
        <p:nvSpPr>
          <p:cNvPr id="6" name="Text 3"/>
          <p:cNvSpPr/>
          <p:nvPr/>
        </p:nvSpPr>
        <p:spPr>
          <a:xfrm>
            <a:off x="500063" y="1258723"/>
            <a:ext cx="8143875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9FF"/>
                </a:solidFill>
              </a:rPr>
              <a:t>Goal: Establish baseline stability and integrate critical testing dimensions to achieve immediate value</a:t>
            </a:r>
            <a:endParaRPr lang="en-US" sz="784" dirty="0"/>
          </a:p>
        </p:txBody>
      </p:sp>
      <p:sp>
        <p:nvSpPr>
          <p:cNvPr id="7" name="Text 4"/>
          <p:cNvSpPr/>
          <p:nvPr/>
        </p:nvSpPr>
        <p:spPr>
          <a:xfrm>
            <a:off x="500063" y="1620180"/>
            <a:ext cx="4481922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spc="1" kern="0" dirty="0">
                <a:solidFill>
                  <a:srgbClr val="7C3AED"/>
                </a:solidFill>
              </a:rPr>
              <a:t>Key Features</a:t>
            </a:r>
            <a:endParaRPr lang="en-US" sz="683" dirty="0"/>
          </a:p>
        </p:txBody>
      </p:sp>
      <p:sp>
        <p:nvSpPr>
          <p:cNvPr id="8" name="Text 5"/>
          <p:cNvSpPr/>
          <p:nvPr/>
        </p:nvSpPr>
        <p:spPr>
          <a:xfrm>
            <a:off x="500063" y="1865914"/>
            <a:ext cx="2240961" cy="328613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D9FF"/>
                </a:solidFill>
              </a:rPr>
              <a:t>Feature</a:t>
            </a:r>
            <a:endParaRPr lang="en-US" sz="683" dirty="0"/>
          </a:p>
        </p:txBody>
      </p:sp>
      <p:sp>
        <p:nvSpPr>
          <p:cNvPr id="9" name="Text 6"/>
          <p:cNvSpPr/>
          <p:nvPr/>
        </p:nvSpPr>
        <p:spPr>
          <a:xfrm>
            <a:off x="2741023" y="1865914"/>
            <a:ext cx="1120480" cy="328613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D9FF"/>
                </a:solidFill>
              </a:rPr>
              <a:t>Priority</a:t>
            </a:r>
            <a:endParaRPr lang="en-US" sz="683" dirty="0"/>
          </a:p>
        </p:txBody>
      </p:sp>
      <p:sp>
        <p:nvSpPr>
          <p:cNvPr id="10" name="Text 7"/>
          <p:cNvSpPr/>
          <p:nvPr/>
        </p:nvSpPr>
        <p:spPr>
          <a:xfrm>
            <a:off x="3861504" y="1865914"/>
            <a:ext cx="1120480" cy="328613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D9FF"/>
                </a:solidFill>
              </a:rPr>
              <a:t>Complexity</a:t>
            </a:r>
            <a:endParaRPr lang="en-US" sz="683" dirty="0"/>
          </a:p>
        </p:txBody>
      </p:sp>
      <p:sp>
        <p:nvSpPr>
          <p:cNvPr id="11" name="Text 8"/>
          <p:cNvSpPr/>
          <p:nvPr/>
        </p:nvSpPr>
        <p:spPr>
          <a:xfrm>
            <a:off x="500063" y="2194527"/>
            <a:ext cx="2240961" cy="332184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8EEF5"/>
                </a:solidFill>
              </a:rPr>
              <a:t>State Synchronization Store</a:t>
            </a:r>
            <a:endParaRPr lang="en-US" sz="727" dirty="0"/>
          </a:p>
        </p:txBody>
      </p:sp>
      <p:sp>
        <p:nvSpPr>
          <p:cNvPr id="12" name="Text 9"/>
          <p:cNvSpPr/>
          <p:nvPr/>
        </p:nvSpPr>
        <p:spPr>
          <a:xfrm>
            <a:off x="2741023" y="2194527"/>
            <a:ext cx="1120480" cy="332184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E8EEF5"/>
                </a:solidFill>
              </a:rPr>
              <a:t>High</a:t>
            </a:r>
            <a:endParaRPr lang="en-US" sz="683" dirty="0"/>
          </a:p>
        </p:txBody>
      </p:sp>
      <p:sp>
        <p:nvSpPr>
          <p:cNvPr id="13" name="Text 10"/>
          <p:cNvSpPr/>
          <p:nvPr/>
        </p:nvSpPr>
        <p:spPr>
          <a:xfrm>
            <a:off x="3861504" y="2194527"/>
            <a:ext cx="1120480" cy="332184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8EEF5"/>
                </a:solidFill>
              </a:rPr>
              <a:t>Medium</a:t>
            </a:r>
            <a:endParaRPr lang="en-US" sz="727" dirty="0"/>
          </a:p>
        </p:txBody>
      </p:sp>
      <p:sp>
        <p:nvSpPr>
          <p:cNvPr id="14" name="Text 11"/>
          <p:cNvSpPr/>
          <p:nvPr/>
        </p:nvSpPr>
        <p:spPr>
          <a:xfrm>
            <a:off x="500063" y="2526711"/>
            <a:ext cx="2240961" cy="328613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8EEF5"/>
                </a:solidFill>
              </a:rPr>
              <a:t>Adaptive Wait Service</a:t>
            </a:r>
            <a:endParaRPr lang="en-US" sz="727" dirty="0"/>
          </a:p>
        </p:txBody>
      </p:sp>
      <p:sp>
        <p:nvSpPr>
          <p:cNvPr id="15" name="Text 12"/>
          <p:cNvSpPr/>
          <p:nvPr/>
        </p:nvSpPr>
        <p:spPr>
          <a:xfrm>
            <a:off x="2741023" y="2526711"/>
            <a:ext cx="1120480" cy="328613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E8EEF5"/>
                </a:solidFill>
              </a:rPr>
              <a:t>High</a:t>
            </a:r>
            <a:endParaRPr lang="en-US" sz="683" dirty="0"/>
          </a:p>
        </p:txBody>
      </p:sp>
      <p:sp>
        <p:nvSpPr>
          <p:cNvPr id="16" name="Text 13"/>
          <p:cNvSpPr/>
          <p:nvPr/>
        </p:nvSpPr>
        <p:spPr>
          <a:xfrm>
            <a:off x="3861504" y="2526711"/>
            <a:ext cx="1120480" cy="328613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8EEF5"/>
                </a:solidFill>
              </a:rPr>
              <a:t>Medium</a:t>
            </a:r>
            <a:endParaRPr lang="en-US" sz="727" dirty="0"/>
          </a:p>
        </p:txBody>
      </p:sp>
      <p:sp>
        <p:nvSpPr>
          <p:cNvPr id="17" name="Text 14"/>
          <p:cNvSpPr/>
          <p:nvPr/>
        </p:nvSpPr>
        <p:spPr>
          <a:xfrm>
            <a:off x="500063" y="2855323"/>
            <a:ext cx="2240961" cy="328613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8EEF5"/>
                </a:solidFill>
              </a:rPr>
              <a:t>Heuristic Recovery Engine</a:t>
            </a:r>
            <a:endParaRPr lang="en-US" sz="727" dirty="0"/>
          </a:p>
        </p:txBody>
      </p:sp>
      <p:sp>
        <p:nvSpPr>
          <p:cNvPr id="18" name="Text 15"/>
          <p:cNvSpPr/>
          <p:nvPr/>
        </p:nvSpPr>
        <p:spPr>
          <a:xfrm>
            <a:off x="2741023" y="2855323"/>
            <a:ext cx="1120480" cy="328613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E8EEF5"/>
                </a:solidFill>
              </a:rPr>
              <a:t>High</a:t>
            </a:r>
            <a:endParaRPr lang="en-US" sz="683" dirty="0"/>
          </a:p>
        </p:txBody>
      </p:sp>
      <p:sp>
        <p:nvSpPr>
          <p:cNvPr id="19" name="Text 16"/>
          <p:cNvSpPr/>
          <p:nvPr/>
        </p:nvSpPr>
        <p:spPr>
          <a:xfrm>
            <a:off x="3861504" y="2855323"/>
            <a:ext cx="1120480" cy="328613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8EEF5"/>
                </a:solidFill>
              </a:rPr>
              <a:t>Medium</a:t>
            </a:r>
            <a:endParaRPr lang="en-US" sz="727" dirty="0"/>
          </a:p>
        </p:txBody>
      </p:sp>
      <p:sp>
        <p:nvSpPr>
          <p:cNvPr id="20" name="Text 17"/>
          <p:cNvSpPr/>
          <p:nvPr/>
        </p:nvSpPr>
        <p:spPr>
          <a:xfrm>
            <a:off x="500063" y="3183936"/>
            <a:ext cx="2240961" cy="328613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8EEF5"/>
                </a:solidFill>
              </a:rPr>
              <a:t>AI Locator Healing (Basic)</a:t>
            </a:r>
            <a:endParaRPr lang="en-US" sz="727" dirty="0"/>
          </a:p>
        </p:txBody>
      </p:sp>
      <p:sp>
        <p:nvSpPr>
          <p:cNvPr id="21" name="Text 18"/>
          <p:cNvSpPr/>
          <p:nvPr/>
        </p:nvSpPr>
        <p:spPr>
          <a:xfrm>
            <a:off x="2741023" y="3183936"/>
            <a:ext cx="1120480" cy="328613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E8EEF5"/>
                </a:solidFill>
              </a:rPr>
              <a:t>High</a:t>
            </a:r>
            <a:endParaRPr lang="en-US" sz="683" dirty="0"/>
          </a:p>
        </p:txBody>
      </p:sp>
      <p:sp>
        <p:nvSpPr>
          <p:cNvPr id="22" name="Text 19"/>
          <p:cNvSpPr/>
          <p:nvPr/>
        </p:nvSpPr>
        <p:spPr>
          <a:xfrm>
            <a:off x="3861504" y="3183936"/>
            <a:ext cx="1120480" cy="328613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8EEF5"/>
                </a:solidFill>
              </a:rPr>
              <a:t>High</a:t>
            </a:r>
            <a:endParaRPr lang="en-US" sz="727" dirty="0"/>
          </a:p>
        </p:txBody>
      </p:sp>
      <p:sp>
        <p:nvSpPr>
          <p:cNvPr id="23" name="Text 20"/>
          <p:cNvSpPr/>
          <p:nvPr/>
        </p:nvSpPr>
        <p:spPr>
          <a:xfrm>
            <a:off x="500063" y="3512548"/>
            <a:ext cx="2240961" cy="328613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8EEF5"/>
                </a:solidFill>
              </a:rPr>
              <a:t>Telemetry &amp; Metrics Service</a:t>
            </a:r>
            <a:endParaRPr lang="en-US" sz="727" dirty="0"/>
          </a:p>
        </p:txBody>
      </p:sp>
      <p:sp>
        <p:nvSpPr>
          <p:cNvPr id="24" name="Text 21"/>
          <p:cNvSpPr/>
          <p:nvPr/>
        </p:nvSpPr>
        <p:spPr>
          <a:xfrm>
            <a:off x="2741023" y="3512548"/>
            <a:ext cx="1120480" cy="328613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E8EEF5"/>
                </a:solidFill>
              </a:rPr>
              <a:t>High</a:t>
            </a:r>
            <a:endParaRPr lang="en-US" sz="683" dirty="0"/>
          </a:p>
        </p:txBody>
      </p:sp>
      <p:sp>
        <p:nvSpPr>
          <p:cNvPr id="25" name="Text 22"/>
          <p:cNvSpPr/>
          <p:nvPr/>
        </p:nvSpPr>
        <p:spPr>
          <a:xfrm>
            <a:off x="3861504" y="3512548"/>
            <a:ext cx="1120480" cy="328613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8EEF5"/>
                </a:solidFill>
              </a:rPr>
              <a:t>Medium</a:t>
            </a:r>
            <a:endParaRPr lang="en-US" sz="727" dirty="0"/>
          </a:p>
        </p:txBody>
      </p:sp>
      <p:sp>
        <p:nvSpPr>
          <p:cNvPr id="26" name="Text 23"/>
          <p:cNvSpPr/>
          <p:nvPr/>
        </p:nvSpPr>
        <p:spPr>
          <a:xfrm>
            <a:off x="500063" y="3841161"/>
            <a:ext cx="2240961" cy="328613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8EEF5"/>
                </a:solidFill>
              </a:rPr>
              <a:t>Accessibility Scanning (axe-core)</a:t>
            </a:r>
            <a:endParaRPr lang="en-US" sz="727" dirty="0"/>
          </a:p>
        </p:txBody>
      </p:sp>
      <p:sp>
        <p:nvSpPr>
          <p:cNvPr id="27" name="Text 24"/>
          <p:cNvSpPr/>
          <p:nvPr/>
        </p:nvSpPr>
        <p:spPr>
          <a:xfrm>
            <a:off x="2741023" y="3841161"/>
            <a:ext cx="1120480" cy="328613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E8EEF5"/>
                </a:solidFill>
              </a:rPr>
              <a:t>High</a:t>
            </a:r>
            <a:endParaRPr lang="en-US" sz="683" dirty="0"/>
          </a:p>
        </p:txBody>
      </p:sp>
      <p:sp>
        <p:nvSpPr>
          <p:cNvPr id="28" name="Text 25"/>
          <p:cNvSpPr/>
          <p:nvPr/>
        </p:nvSpPr>
        <p:spPr>
          <a:xfrm>
            <a:off x="3861504" y="3841161"/>
            <a:ext cx="1120480" cy="328613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8EEF5"/>
                </a:solidFill>
              </a:rPr>
              <a:t>Low</a:t>
            </a:r>
            <a:endParaRPr lang="en-US" sz="727" dirty="0"/>
          </a:p>
        </p:txBody>
      </p:sp>
      <p:sp>
        <p:nvSpPr>
          <p:cNvPr id="29" name="Text 26"/>
          <p:cNvSpPr/>
          <p:nvPr/>
        </p:nvSpPr>
        <p:spPr>
          <a:xfrm>
            <a:off x="500063" y="4169773"/>
            <a:ext cx="2240961" cy="328613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8EEF5"/>
                </a:solidFill>
              </a:rPr>
              <a:t>Security Scanning (SAST/SCA)</a:t>
            </a:r>
            <a:endParaRPr lang="en-US" sz="727" dirty="0"/>
          </a:p>
        </p:txBody>
      </p:sp>
      <p:sp>
        <p:nvSpPr>
          <p:cNvPr id="30" name="Text 27"/>
          <p:cNvSpPr/>
          <p:nvPr/>
        </p:nvSpPr>
        <p:spPr>
          <a:xfrm>
            <a:off x="2741023" y="4169773"/>
            <a:ext cx="1120480" cy="328613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E8EEF5"/>
                </a:solidFill>
              </a:rPr>
              <a:t>High</a:t>
            </a:r>
            <a:endParaRPr lang="en-US" sz="683" dirty="0"/>
          </a:p>
        </p:txBody>
      </p:sp>
      <p:sp>
        <p:nvSpPr>
          <p:cNvPr id="31" name="Text 28"/>
          <p:cNvSpPr/>
          <p:nvPr/>
        </p:nvSpPr>
        <p:spPr>
          <a:xfrm>
            <a:off x="3861504" y="4169773"/>
            <a:ext cx="1120480" cy="328613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8EEF5"/>
                </a:solidFill>
              </a:rPr>
              <a:t>Medium</a:t>
            </a:r>
            <a:endParaRPr lang="en-US" sz="727" dirty="0"/>
          </a:p>
        </p:txBody>
      </p:sp>
      <p:sp>
        <p:nvSpPr>
          <p:cNvPr id="32" name="Text 29"/>
          <p:cNvSpPr/>
          <p:nvPr/>
        </p:nvSpPr>
        <p:spPr>
          <a:xfrm>
            <a:off x="5196297" y="1620180"/>
            <a:ext cx="3447641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spc="1" kern="0" dirty="0">
                <a:solidFill>
                  <a:srgbClr val="7C3AED"/>
                </a:solidFill>
              </a:rPr>
              <a:t>Expected Outcomes</a:t>
            </a:r>
            <a:endParaRPr lang="en-US" sz="683" dirty="0"/>
          </a:p>
        </p:txBody>
      </p:sp>
      <p:sp>
        <p:nvSpPr>
          <p:cNvPr id="33" name="Shape 30"/>
          <p:cNvSpPr/>
          <p:nvPr/>
        </p:nvSpPr>
        <p:spPr>
          <a:xfrm>
            <a:off x="5196297" y="1865914"/>
            <a:ext cx="3447641" cy="698636"/>
          </a:xfrm>
          <a:prstGeom prst="rect">
            <a:avLst/>
          </a:prstGeom>
          <a:solidFill>
            <a:srgbClr val="7C3AED">
              <a:alpha val="8000"/>
            </a:srgbClr>
          </a:solidFill>
          <a:ln/>
        </p:spPr>
      </p:sp>
      <p:sp>
        <p:nvSpPr>
          <p:cNvPr id="34" name="Text 31"/>
          <p:cNvSpPr/>
          <p:nvPr/>
        </p:nvSpPr>
        <p:spPr>
          <a:xfrm>
            <a:off x="5339172" y="1973070"/>
            <a:ext cx="3161891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10B981"/>
                </a:solidFill>
              </a:rPr>
              <a:t>40-50%</a:t>
            </a:r>
            <a:endParaRPr lang="en-US" sz="1397" dirty="0"/>
          </a:p>
        </p:txBody>
      </p:sp>
      <p:sp>
        <p:nvSpPr>
          <p:cNvPr id="35" name="Text 32"/>
          <p:cNvSpPr/>
          <p:nvPr/>
        </p:nvSpPr>
        <p:spPr>
          <a:xfrm>
            <a:off x="5339172" y="2308827"/>
            <a:ext cx="3161891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8EEF5"/>
                </a:solidFill>
              </a:rPr>
              <a:t>Reduction in flaky test failures</a:t>
            </a:r>
            <a:endParaRPr lang="en-US" sz="674" dirty="0"/>
          </a:p>
        </p:txBody>
      </p:sp>
      <p:sp>
        <p:nvSpPr>
          <p:cNvPr id="36" name="Shape 33"/>
          <p:cNvSpPr/>
          <p:nvPr/>
        </p:nvSpPr>
        <p:spPr>
          <a:xfrm>
            <a:off x="5196297" y="2621700"/>
            <a:ext cx="3447641" cy="698636"/>
          </a:xfrm>
          <a:prstGeom prst="rect">
            <a:avLst/>
          </a:prstGeom>
          <a:solidFill>
            <a:srgbClr val="7C3AED">
              <a:alpha val="8000"/>
            </a:srgbClr>
          </a:solidFill>
          <a:ln/>
        </p:spPr>
      </p:sp>
      <p:sp>
        <p:nvSpPr>
          <p:cNvPr id="37" name="Text 34"/>
          <p:cNvSpPr/>
          <p:nvPr/>
        </p:nvSpPr>
        <p:spPr>
          <a:xfrm>
            <a:off x="5339172" y="2728857"/>
            <a:ext cx="3161891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7C3AED"/>
                </a:solidFill>
              </a:rPr>
              <a:t>30-40%</a:t>
            </a:r>
            <a:endParaRPr lang="en-US" sz="1397" dirty="0"/>
          </a:p>
        </p:txBody>
      </p:sp>
      <p:sp>
        <p:nvSpPr>
          <p:cNvPr id="38" name="Text 35"/>
          <p:cNvSpPr/>
          <p:nvPr/>
        </p:nvSpPr>
        <p:spPr>
          <a:xfrm>
            <a:off x="5339172" y="3064613"/>
            <a:ext cx="3161891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8EEF5"/>
                </a:solidFill>
              </a:rPr>
              <a:t>Reduction in test maintenance effort</a:t>
            </a:r>
            <a:endParaRPr lang="en-US" sz="674" dirty="0"/>
          </a:p>
        </p:txBody>
      </p:sp>
      <p:sp>
        <p:nvSpPr>
          <p:cNvPr id="39" name="Shape 36"/>
          <p:cNvSpPr/>
          <p:nvPr/>
        </p:nvSpPr>
        <p:spPr>
          <a:xfrm>
            <a:off x="5196297" y="3377487"/>
            <a:ext cx="3447641" cy="698636"/>
          </a:xfrm>
          <a:prstGeom prst="rect">
            <a:avLst/>
          </a:prstGeom>
          <a:solidFill>
            <a:srgbClr val="7C3AED">
              <a:alpha val="8000"/>
            </a:srgbClr>
          </a:solidFill>
          <a:ln/>
        </p:spPr>
      </p:sp>
      <p:sp>
        <p:nvSpPr>
          <p:cNvPr id="40" name="Text 37"/>
          <p:cNvSpPr/>
          <p:nvPr/>
        </p:nvSpPr>
        <p:spPr>
          <a:xfrm>
            <a:off x="5339172" y="3484643"/>
            <a:ext cx="3161891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00D9FF"/>
                </a:solidFill>
              </a:rPr>
              <a:t>100+</a:t>
            </a:r>
            <a:endParaRPr lang="en-US" sz="1397" dirty="0"/>
          </a:p>
        </p:txBody>
      </p:sp>
      <p:sp>
        <p:nvSpPr>
          <p:cNvPr id="41" name="Text 38"/>
          <p:cNvSpPr/>
          <p:nvPr/>
        </p:nvSpPr>
        <p:spPr>
          <a:xfrm>
            <a:off x="5339172" y="3820399"/>
            <a:ext cx="3161891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8EEF5"/>
                </a:solidFill>
              </a:rPr>
              <a:t>Accessibility &amp; security issues detected</a:t>
            </a:r>
            <a:endParaRPr lang="en-US" sz="674" dirty="0"/>
          </a:p>
        </p:txBody>
      </p:sp>
      <p:sp>
        <p:nvSpPr>
          <p:cNvPr id="42" name="Shape 39"/>
          <p:cNvSpPr/>
          <p:nvPr/>
        </p:nvSpPr>
        <p:spPr>
          <a:xfrm>
            <a:off x="5196297" y="4133273"/>
            <a:ext cx="3447641" cy="698636"/>
          </a:xfrm>
          <a:prstGeom prst="rect">
            <a:avLst/>
          </a:prstGeom>
          <a:solidFill>
            <a:srgbClr val="7C3AED">
              <a:alpha val="8000"/>
            </a:srgbClr>
          </a:solidFill>
          <a:ln/>
        </p:spPr>
      </p:sp>
      <p:sp>
        <p:nvSpPr>
          <p:cNvPr id="43" name="Text 40"/>
          <p:cNvSpPr/>
          <p:nvPr/>
        </p:nvSpPr>
        <p:spPr>
          <a:xfrm>
            <a:off x="5339172" y="4240430"/>
            <a:ext cx="3161891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10B981"/>
                </a:solidFill>
              </a:rPr>
              <a:t>3-4 mo</a:t>
            </a:r>
            <a:endParaRPr lang="en-US" sz="1397" dirty="0"/>
          </a:p>
        </p:txBody>
      </p:sp>
      <p:sp>
        <p:nvSpPr>
          <p:cNvPr id="44" name="Text 41"/>
          <p:cNvSpPr/>
          <p:nvPr/>
        </p:nvSpPr>
        <p:spPr>
          <a:xfrm>
            <a:off x="5339172" y="4576186"/>
            <a:ext cx="3161891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8EEF5"/>
                </a:solidFill>
              </a:rPr>
              <a:t>Time to positive ROI</a:t>
            </a:r>
            <a:endParaRPr lang="en-US" sz="674" dirty="0"/>
          </a:p>
        </p:txBody>
      </p:sp>
      <p:sp>
        <p:nvSpPr>
          <p:cNvPr id="45" name="Shape 42"/>
          <p:cNvSpPr/>
          <p:nvPr/>
        </p:nvSpPr>
        <p:spPr>
          <a:xfrm>
            <a:off x="500063" y="5067653"/>
            <a:ext cx="8143875" cy="771525"/>
          </a:xfrm>
          <a:prstGeom prst="rect">
            <a:avLst/>
          </a:prstGeom>
          <a:solidFill>
            <a:srgbClr val="00D9FF">
              <a:alpha val="5000"/>
            </a:srgbClr>
          </a:solidFill>
          <a:ln/>
        </p:spPr>
      </p:sp>
      <p:sp>
        <p:nvSpPr>
          <p:cNvPr id="46" name="Shape 43"/>
          <p:cNvSpPr/>
          <p:nvPr/>
        </p:nvSpPr>
        <p:spPr>
          <a:xfrm>
            <a:off x="500063" y="5067653"/>
            <a:ext cx="21431" cy="771525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47" name="Text 44"/>
          <p:cNvSpPr/>
          <p:nvPr/>
        </p:nvSpPr>
        <p:spPr>
          <a:xfrm>
            <a:off x="678656" y="5196241"/>
            <a:ext cx="778668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E8EEF5"/>
                </a:solidFill>
              </a:rPr>
              <a:t>Phase 1 focuses on high-impact, medium-complexity features that provide immediate stability improvements and lay the groundwork for advanced capabilities. This phase prioritizes reliability over sophistication, ensuring the system works consistently before adding complex AI-driven features. Teams typically see ROI within 3-4 months as maintenance savings accumulate.</a:t>
            </a:r>
            <a:endParaRPr lang="en-US" sz="7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0363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0063" y="357188"/>
            <a:ext cx="975875" cy="23574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1"/>
          <p:cNvSpPr/>
          <p:nvPr/>
        </p:nvSpPr>
        <p:spPr>
          <a:xfrm>
            <a:off x="500063" y="357188"/>
            <a:ext cx="975875" cy="235744"/>
          </a:xfrm>
          <a:prstGeom prst="rect">
            <a:avLst/>
          </a:prstGeom>
          <a:noFill/>
          <a:ln/>
        </p:spPr>
        <p:txBody>
          <a:bodyPr wrap="square" lIns="136017" tIns="51054" rIns="136017" bIns="51054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spc="1" kern="0" dirty="0">
                <a:solidFill>
                  <a:srgbClr val="1A2332"/>
                </a:solidFill>
              </a:rPr>
              <a:t>MONTHS 6-12</a:t>
            </a:r>
            <a:endParaRPr lang="en-US" sz="683" dirty="0"/>
          </a:p>
        </p:txBody>
      </p:sp>
      <p:sp>
        <p:nvSpPr>
          <p:cNvPr id="5" name="Text 2"/>
          <p:cNvSpPr/>
          <p:nvPr/>
        </p:nvSpPr>
        <p:spPr>
          <a:xfrm>
            <a:off x="500063" y="664369"/>
            <a:ext cx="8143875" cy="3086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0D9FF"/>
                </a:solidFill>
              </a:rPr>
              <a:t>Phase 2 - Advanced Self-Healing &amp; Holistic Testing</a:t>
            </a:r>
            <a:endParaRPr lang="en-US" sz="1808" dirty="0"/>
          </a:p>
        </p:txBody>
      </p:sp>
      <p:sp>
        <p:nvSpPr>
          <p:cNvPr id="6" name="Text 3"/>
          <p:cNvSpPr/>
          <p:nvPr/>
        </p:nvSpPr>
        <p:spPr>
          <a:xfrm>
            <a:off x="500063" y="1258723"/>
            <a:ext cx="8143875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9FF"/>
                </a:solidFill>
              </a:rPr>
              <a:t>Goal: Build sophisticated recovery mechanisms and expand quality visibility across performance, API integrity, and environmental changes</a:t>
            </a:r>
            <a:endParaRPr lang="en-US" sz="784" dirty="0"/>
          </a:p>
        </p:txBody>
      </p:sp>
      <p:sp>
        <p:nvSpPr>
          <p:cNvPr id="7" name="Text 4"/>
          <p:cNvSpPr/>
          <p:nvPr/>
        </p:nvSpPr>
        <p:spPr>
          <a:xfrm>
            <a:off x="500063" y="1498736"/>
            <a:ext cx="814387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E8EEF5">
                    <a:alpha val="85000"/>
                  </a:srgbClr>
                </a:solidFill>
              </a:rPr>
              <a:t>Phase 2 introduces more complex, AI-driven capabilities that require the stable foundation established in Phase 1. This phase shifts from reactive healing to proactive detection and prevention.</a:t>
            </a:r>
            <a:endParaRPr lang="en-US" sz="727" dirty="0"/>
          </a:p>
        </p:txBody>
      </p:sp>
      <p:sp>
        <p:nvSpPr>
          <p:cNvPr id="8" name="Shape 5"/>
          <p:cNvSpPr/>
          <p:nvPr/>
        </p:nvSpPr>
        <p:spPr>
          <a:xfrm>
            <a:off x="500063" y="1997348"/>
            <a:ext cx="4018359" cy="939403"/>
          </a:xfrm>
          <a:prstGeom prst="rect">
            <a:avLst/>
          </a:prstGeom>
          <a:solidFill>
            <a:srgbClr val="00D9FF">
              <a:alpha val="5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500063" y="1997348"/>
            <a:ext cx="4018359" cy="21431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0" name="Text 7"/>
          <p:cNvSpPr/>
          <p:nvPr/>
        </p:nvSpPr>
        <p:spPr>
          <a:xfrm>
            <a:off x="642938" y="2125935"/>
            <a:ext cx="373260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9FF"/>
                </a:solidFill>
              </a:rPr>
              <a:t>Advanced Diagnostic Tools</a:t>
            </a:r>
            <a:endParaRPr lang="en-US" sz="784" dirty="0"/>
          </a:p>
        </p:txBody>
      </p:sp>
      <p:sp>
        <p:nvSpPr>
          <p:cNvPr id="11" name="Text 8"/>
          <p:cNvSpPr/>
          <p:nvPr/>
        </p:nvSpPr>
        <p:spPr>
          <a:xfrm>
            <a:off x="642938" y="2368823"/>
            <a:ext cx="3732609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E8EEF5">
                    <a:alpha val="90000"/>
                  </a:srgbClr>
                </a:solidFill>
              </a:rPr>
              <a:t>Deterministic Replay Engine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E8EEF5">
                    <a:alpha val="90000"/>
                  </a:srgbClr>
                </a:solidFill>
              </a:rPr>
              <a:t> for pixel-perfect test reproduction. 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E8EEF5">
                    <a:alpha val="90000"/>
                  </a:srgbClr>
                </a:solidFill>
              </a:rPr>
              <a:t>Hot-Swappable Module Manager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E8EEF5">
                    <a:alpha val="90000"/>
                  </a:srgbClr>
                </a:solidFill>
              </a:rPr>
              <a:t> for automatic adapter recovery. Dramatically reduces time-to-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E8EEF5">
                    <a:alpha val="90000"/>
                  </a:srgbClr>
                </a:solidFill>
              </a:rPr>
              <a:t>resolution for complex failures.</a:t>
            </a:r>
            <a:endParaRPr lang="en-US" sz="634" dirty="0"/>
          </a:p>
        </p:txBody>
      </p:sp>
      <p:sp>
        <p:nvSpPr>
          <p:cNvPr id="12" name="Shape 9"/>
          <p:cNvSpPr/>
          <p:nvPr/>
        </p:nvSpPr>
        <p:spPr>
          <a:xfrm>
            <a:off x="4625578" y="1997348"/>
            <a:ext cx="4018359" cy="939403"/>
          </a:xfrm>
          <a:prstGeom prst="rect">
            <a:avLst/>
          </a:prstGeom>
          <a:solidFill>
            <a:srgbClr val="00D9FF">
              <a:alpha val="5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4625578" y="1997348"/>
            <a:ext cx="4018359" cy="21431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1"/>
          <p:cNvSpPr/>
          <p:nvPr/>
        </p:nvSpPr>
        <p:spPr>
          <a:xfrm>
            <a:off x="4768453" y="2125935"/>
            <a:ext cx="373260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7C3AED"/>
                </a:solidFill>
              </a:rPr>
              <a:t>Proactive Self-Healing</a:t>
            </a:r>
            <a:endParaRPr lang="en-US" sz="784" dirty="0"/>
          </a:p>
        </p:txBody>
      </p:sp>
      <p:sp>
        <p:nvSpPr>
          <p:cNvPr id="15" name="Text 12"/>
          <p:cNvSpPr/>
          <p:nvPr/>
        </p:nvSpPr>
        <p:spPr>
          <a:xfrm>
            <a:off x="4768453" y="2368823"/>
            <a:ext cx="3732609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E8EEF5">
                    <a:alpha val="90000"/>
                  </a:srgbClr>
                </a:solidFill>
              </a:rPr>
              <a:t>Environment Drift Detector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E8EEF5">
                    <a:alpha val="90000"/>
                  </a:srgbClr>
                </a:solidFill>
              </a:rPr>
              <a:t> compares UI snapshots across builds to identify 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E8EEF5">
                    <a:alpha val="90000"/>
                  </a:srgbClr>
                </a:solidFill>
              </a:rPr>
              <a:t>changes before tests fail. Enables preemptive healing, reducing test failures by 40-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E8EEF5">
                    <a:alpha val="90000"/>
                  </a:srgbClr>
                </a:solidFill>
              </a:rPr>
              <a:t>50%.</a:t>
            </a:r>
            <a:endParaRPr lang="en-US" sz="634" dirty="0"/>
          </a:p>
        </p:txBody>
      </p:sp>
      <p:sp>
        <p:nvSpPr>
          <p:cNvPr id="16" name="Shape 13"/>
          <p:cNvSpPr/>
          <p:nvPr/>
        </p:nvSpPr>
        <p:spPr>
          <a:xfrm>
            <a:off x="500063" y="3022476"/>
            <a:ext cx="4018359" cy="939403"/>
          </a:xfrm>
          <a:prstGeom prst="rect">
            <a:avLst/>
          </a:prstGeom>
          <a:solidFill>
            <a:srgbClr val="00D9FF">
              <a:alpha val="5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500063" y="3022476"/>
            <a:ext cx="4018359" cy="21431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5"/>
          <p:cNvSpPr/>
          <p:nvPr/>
        </p:nvSpPr>
        <p:spPr>
          <a:xfrm>
            <a:off x="642938" y="3151063"/>
            <a:ext cx="373260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0B981"/>
                </a:solidFill>
              </a:rPr>
              <a:t>Holistic Quality Integration</a:t>
            </a:r>
            <a:endParaRPr lang="en-US" sz="784" dirty="0"/>
          </a:p>
        </p:txBody>
      </p:sp>
      <p:sp>
        <p:nvSpPr>
          <p:cNvPr id="19" name="Text 16"/>
          <p:cNvSpPr/>
          <p:nvPr/>
        </p:nvSpPr>
        <p:spPr>
          <a:xfrm>
            <a:off x="642938" y="3393951"/>
            <a:ext cx="3732609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E8EEF5">
                    <a:alpha val="90000"/>
                  </a:srgbClr>
                </a:solidFill>
              </a:rPr>
              <a:t>Performance Testing Module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E8EEF5">
                    <a:alpha val="90000"/>
                  </a:srgbClr>
                </a:solidFill>
              </a:rPr>
              <a:t> with Lighthouse integration. 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E8EEF5">
                    <a:alpha val="90000"/>
                  </a:srgbClr>
                </a:solidFill>
              </a:rPr>
              <a:t>API + UI Fusion Testing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E8EEF5">
                    <a:alpha val="90000"/>
                  </a:srgbClr>
                </a:solidFill>
              </a:rPr>
              <a:t> for data consistency validation. 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E8EEF5">
                    <a:alpha val="90000"/>
                  </a:srgbClr>
                </a:solidFill>
              </a:rPr>
              <a:t>Synthetic Data Generator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E8EEF5">
                    <a:alpha val="90000"/>
                  </a:srgbClr>
                </a:solidFill>
              </a:rPr>
              <a:t> for realistic, privacy-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E8EEF5">
                    <a:alpha val="90000"/>
                  </a:srgbClr>
                </a:solidFill>
              </a:rPr>
              <a:t>compliant test data.</a:t>
            </a:r>
            <a:endParaRPr lang="en-US" sz="634" dirty="0"/>
          </a:p>
        </p:txBody>
      </p:sp>
      <p:sp>
        <p:nvSpPr>
          <p:cNvPr id="20" name="Shape 17"/>
          <p:cNvSpPr/>
          <p:nvPr/>
        </p:nvSpPr>
        <p:spPr>
          <a:xfrm>
            <a:off x="4625578" y="3022476"/>
            <a:ext cx="4018359" cy="939403"/>
          </a:xfrm>
          <a:prstGeom prst="rect">
            <a:avLst/>
          </a:prstGeom>
          <a:solidFill>
            <a:srgbClr val="00D9FF">
              <a:alpha val="5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4625578" y="3022476"/>
            <a:ext cx="4018359" cy="21431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22" name="Text 19"/>
          <p:cNvSpPr/>
          <p:nvPr/>
        </p:nvSpPr>
        <p:spPr>
          <a:xfrm>
            <a:off x="4768453" y="3151063"/>
            <a:ext cx="373260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9FF"/>
                </a:solidFill>
              </a:rPr>
              <a:t>Controlled Chaos Engineering</a:t>
            </a:r>
            <a:endParaRPr lang="en-US" sz="784" dirty="0"/>
          </a:p>
        </p:txBody>
      </p:sp>
      <p:sp>
        <p:nvSpPr>
          <p:cNvPr id="23" name="Text 20"/>
          <p:cNvSpPr/>
          <p:nvPr/>
        </p:nvSpPr>
        <p:spPr>
          <a:xfrm>
            <a:off x="4768453" y="3393951"/>
            <a:ext cx="3732609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E8EEF5">
                    <a:alpha val="90000"/>
                  </a:srgbClr>
                </a:solidFill>
              </a:rPr>
              <a:t>Begins running fault injection experiments in staging environments to validate system resilience and test robustness. Proactively identifies weaknesses before production incidents.</a:t>
            </a:r>
            <a:endParaRPr lang="en-US" sz="674" dirty="0"/>
          </a:p>
        </p:txBody>
      </p:sp>
      <p:sp>
        <p:nvSpPr>
          <p:cNvPr id="24" name="Shape 21"/>
          <p:cNvSpPr/>
          <p:nvPr/>
        </p:nvSpPr>
        <p:spPr>
          <a:xfrm>
            <a:off x="500063" y="4119042"/>
            <a:ext cx="8143875" cy="1517266"/>
          </a:xfrm>
          <a:prstGeom prst="rect">
            <a:avLst/>
          </a:prstGeom>
          <a:solidFill>
            <a:srgbClr val="7C3AED">
              <a:alpha val="8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500063" y="4119042"/>
            <a:ext cx="21431" cy="151726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6" name="Text 23"/>
          <p:cNvSpPr/>
          <p:nvPr/>
        </p:nvSpPr>
        <p:spPr>
          <a:xfrm>
            <a:off x="678656" y="4261917"/>
            <a:ext cx="7786688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spc="1" kern="0" dirty="0">
                <a:solidFill>
                  <a:srgbClr val="7C3AED"/>
                </a:solidFill>
              </a:rPr>
              <a:t>Expected Outcomes</a:t>
            </a:r>
            <a:endParaRPr lang="en-US" sz="683" dirty="0"/>
          </a:p>
        </p:txBody>
      </p:sp>
      <p:sp>
        <p:nvSpPr>
          <p:cNvPr id="27" name="Text 24"/>
          <p:cNvSpPr/>
          <p:nvPr/>
        </p:nvSpPr>
        <p:spPr>
          <a:xfrm>
            <a:off x="678656" y="4529082"/>
            <a:ext cx="2476481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10B981"/>
                </a:solidFill>
              </a:rPr>
              <a:t>60-70%</a:t>
            </a:r>
            <a:endParaRPr lang="en-US" sz="1602" dirty="0"/>
          </a:p>
        </p:txBody>
      </p:sp>
      <p:sp>
        <p:nvSpPr>
          <p:cNvPr id="28" name="Text 25"/>
          <p:cNvSpPr/>
          <p:nvPr/>
        </p:nvSpPr>
        <p:spPr>
          <a:xfrm>
            <a:off x="678656" y="4907700"/>
            <a:ext cx="2476481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8EEF5"/>
                </a:solidFill>
              </a:rPr>
              <a:t>Reduction in test maintenance effort (up from 30-40% in Phase 1)</a:t>
            </a:r>
            <a:endParaRPr lang="en-US" sz="674" dirty="0"/>
          </a:p>
        </p:txBody>
      </p:sp>
      <p:sp>
        <p:nvSpPr>
          <p:cNvPr id="29" name="Text 26"/>
          <p:cNvSpPr/>
          <p:nvPr/>
        </p:nvSpPr>
        <p:spPr>
          <a:xfrm>
            <a:off x="3333731" y="4529082"/>
            <a:ext cx="247650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00D9FF"/>
                </a:solidFill>
              </a:rPr>
              <a:t>20-30%</a:t>
            </a:r>
            <a:endParaRPr lang="en-US" sz="1602" dirty="0"/>
          </a:p>
        </p:txBody>
      </p:sp>
      <p:sp>
        <p:nvSpPr>
          <p:cNvPr id="30" name="Text 27"/>
          <p:cNvSpPr/>
          <p:nvPr/>
        </p:nvSpPr>
        <p:spPr>
          <a:xfrm>
            <a:off x="3333731" y="4907700"/>
            <a:ext cx="2476509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8EEF5"/>
                </a:solidFill>
              </a:rPr>
              <a:t>Performance regressions detected that would impact users</a:t>
            </a:r>
            <a:endParaRPr lang="en-US" sz="674" dirty="0"/>
          </a:p>
        </p:txBody>
      </p:sp>
      <p:sp>
        <p:nvSpPr>
          <p:cNvPr id="31" name="Text 28"/>
          <p:cNvSpPr/>
          <p:nvPr/>
        </p:nvSpPr>
        <p:spPr>
          <a:xfrm>
            <a:off x="5988834" y="4529082"/>
            <a:ext cx="2476481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7C3AED"/>
                </a:solidFill>
              </a:rPr>
              <a:t>50-60%</a:t>
            </a:r>
            <a:endParaRPr lang="en-US" sz="1602" dirty="0"/>
          </a:p>
        </p:txBody>
      </p:sp>
      <p:sp>
        <p:nvSpPr>
          <p:cNvPr id="32" name="Text 29"/>
          <p:cNvSpPr/>
          <p:nvPr/>
        </p:nvSpPr>
        <p:spPr>
          <a:xfrm>
            <a:off x="5988834" y="4907700"/>
            <a:ext cx="2476481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E8EEF5"/>
                </a:solidFill>
              </a:rPr>
              <a:t>Faster root cause analysis due to improved diagnostics</a:t>
            </a:r>
            <a:endParaRPr lang="en-US" sz="674" dirty="0"/>
          </a:p>
        </p:txBody>
      </p:sp>
      <p:sp>
        <p:nvSpPr>
          <p:cNvPr id="33" name="Text 30"/>
          <p:cNvSpPr/>
          <p:nvPr/>
        </p:nvSpPr>
        <p:spPr>
          <a:xfrm>
            <a:off x="678656" y="5333423"/>
            <a:ext cx="7786688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E8EEF5">
                    <a:alpha val="90000"/>
                  </a:srgbClr>
                </a:solidFill>
              </a:rPr>
              <a:t>Teams report comprehensive quality visibility beyond functional correctness, with API-UI data inconsistencies identified that traditional testing misses.</a:t>
            </a:r>
            <a:endParaRPr lang="en-US" sz="727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257841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0063" y="357188"/>
            <a:ext cx="936529" cy="23574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1"/>
          <p:cNvSpPr/>
          <p:nvPr/>
        </p:nvSpPr>
        <p:spPr>
          <a:xfrm>
            <a:off x="500063" y="357188"/>
            <a:ext cx="936529" cy="235744"/>
          </a:xfrm>
          <a:prstGeom prst="rect">
            <a:avLst/>
          </a:prstGeom>
          <a:noFill/>
          <a:ln/>
        </p:spPr>
        <p:txBody>
          <a:bodyPr wrap="square" lIns="136017" tIns="51054" rIns="136017" bIns="51054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spc="1" kern="0" dirty="0">
                <a:solidFill>
                  <a:srgbClr val="1A2332"/>
                </a:solidFill>
              </a:rPr>
              <a:t>MONTHS 12+</a:t>
            </a:r>
            <a:endParaRPr lang="en-US" sz="683" dirty="0"/>
          </a:p>
        </p:txBody>
      </p:sp>
      <p:sp>
        <p:nvSpPr>
          <p:cNvPr id="5" name="Text 2"/>
          <p:cNvSpPr/>
          <p:nvPr/>
        </p:nvSpPr>
        <p:spPr>
          <a:xfrm>
            <a:off x="500063" y="664369"/>
            <a:ext cx="8143875" cy="3086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0D9FF"/>
                </a:solidFill>
              </a:rPr>
              <a:t>Phase 3 - Predictive &amp; Autonomous QA</a:t>
            </a:r>
            <a:endParaRPr lang="en-US" sz="1808" dirty="0"/>
          </a:p>
        </p:txBody>
      </p:sp>
      <p:sp>
        <p:nvSpPr>
          <p:cNvPr id="6" name="Text 3"/>
          <p:cNvSpPr/>
          <p:nvPr/>
        </p:nvSpPr>
        <p:spPr>
          <a:xfrm>
            <a:off x="500063" y="1258723"/>
            <a:ext cx="8143875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9FF"/>
                </a:solidFill>
              </a:rPr>
              <a:t>Goal: Evolve into a fully autonomous system that predicts failures, prevents defects, and provides intelligent debugging assistance</a:t>
            </a:r>
            <a:endParaRPr lang="en-US" sz="784" dirty="0"/>
          </a:p>
        </p:txBody>
      </p:sp>
      <p:sp>
        <p:nvSpPr>
          <p:cNvPr id="7" name="Text 4"/>
          <p:cNvSpPr/>
          <p:nvPr/>
        </p:nvSpPr>
        <p:spPr>
          <a:xfrm>
            <a:off x="500063" y="1620180"/>
            <a:ext cx="814387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spc="1" kern="0" dirty="0">
                <a:solidFill>
                  <a:srgbClr val="7C3AED"/>
                </a:solidFill>
              </a:rPr>
              <a:t>Advanced Autonomous Capabilities</a:t>
            </a:r>
            <a:endParaRPr lang="en-US" sz="683" dirty="0"/>
          </a:p>
        </p:txBody>
      </p:sp>
      <p:sp>
        <p:nvSpPr>
          <p:cNvPr id="8" name="Shape 5"/>
          <p:cNvSpPr/>
          <p:nvPr/>
        </p:nvSpPr>
        <p:spPr>
          <a:xfrm>
            <a:off x="500063" y="1887345"/>
            <a:ext cx="4018359" cy="875807"/>
          </a:xfrm>
          <a:prstGeom prst="rect">
            <a:avLst/>
          </a:prstGeom>
          <a:solidFill>
            <a:srgbClr val="00D9FF">
              <a:alpha val="5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500063" y="1887345"/>
            <a:ext cx="21431" cy="875807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0" name="Text 7"/>
          <p:cNvSpPr/>
          <p:nvPr/>
        </p:nvSpPr>
        <p:spPr>
          <a:xfrm>
            <a:off x="642938" y="2015933"/>
            <a:ext cx="373260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9FF"/>
                </a:solidFill>
              </a:rPr>
              <a:t>Predictive Intelligence</a:t>
            </a:r>
            <a:endParaRPr lang="en-US" sz="784" dirty="0"/>
          </a:p>
        </p:txBody>
      </p:sp>
      <p:sp>
        <p:nvSpPr>
          <p:cNvPr id="11" name="Text 8"/>
          <p:cNvSpPr/>
          <p:nvPr/>
        </p:nvSpPr>
        <p:spPr>
          <a:xfrm>
            <a:off x="642938" y="2244533"/>
            <a:ext cx="3732609" cy="390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E8EEF5">
                    <a:alpha val="85000"/>
                  </a:srgbClr>
                </a:solidFill>
              </a:rPr>
              <a:t>ML models analyze historical data, code changes, and environmental factors to forecast which tests are likely to fail, enabling preemptive healing and reducing wasted execution time by 30-40%.</a:t>
            </a:r>
            <a:endParaRPr lang="en-US" sz="674" dirty="0"/>
          </a:p>
        </p:txBody>
      </p:sp>
      <p:sp>
        <p:nvSpPr>
          <p:cNvPr id="12" name="Shape 9"/>
          <p:cNvSpPr/>
          <p:nvPr/>
        </p:nvSpPr>
        <p:spPr>
          <a:xfrm>
            <a:off x="4625578" y="1887345"/>
            <a:ext cx="4018359" cy="875807"/>
          </a:xfrm>
          <a:prstGeom prst="rect">
            <a:avLst/>
          </a:prstGeom>
          <a:solidFill>
            <a:srgbClr val="00D9FF">
              <a:alpha val="5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4625578" y="1887345"/>
            <a:ext cx="21431" cy="875807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1"/>
          <p:cNvSpPr/>
          <p:nvPr/>
        </p:nvSpPr>
        <p:spPr>
          <a:xfrm>
            <a:off x="4768453" y="2015933"/>
            <a:ext cx="373260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7C3AED"/>
                </a:solidFill>
              </a:rPr>
              <a:t>AI-Powered Debugging</a:t>
            </a:r>
            <a:endParaRPr lang="en-US" sz="784" dirty="0"/>
          </a:p>
        </p:txBody>
      </p:sp>
      <p:sp>
        <p:nvSpPr>
          <p:cNvPr id="15" name="Text 12"/>
          <p:cNvSpPr/>
          <p:nvPr/>
        </p:nvSpPr>
        <p:spPr>
          <a:xfrm>
            <a:off x="4768453" y="2244533"/>
            <a:ext cx="3732609" cy="390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E8EEF5">
                    <a:alpha val="85000"/>
                  </a:srgbClr>
                </a:solidFill>
              </a:rPr>
              <a:t>LLM-based co-pilot reads failure logs, analyzes screenshots, and suggests specific code fixes or test updates, reducing debugging time from hours to minutes for complex failures.</a:t>
            </a:r>
            <a:endParaRPr lang="en-US" sz="674" dirty="0"/>
          </a:p>
        </p:txBody>
      </p:sp>
      <p:sp>
        <p:nvSpPr>
          <p:cNvPr id="16" name="Shape 13"/>
          <p:cNvSpPr/>
          <p:nvPr/>
        </p:nvSpPr>
        <p:spPr>
          <a:xfrm>
            <a:off x="500063" y="2870309"/>
            <a:ext cx="4018359" cy="875807"/>
          </a:xfrm>
          <a:prstGeom prst="rect">
            <a:avLst/>
          </a:prstGeom>
          <a:solidFill>
            <a:srgbClr val="00D9FF">
              <a:alpha val="5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500063" y="2870309"/>
            <a:ext cx="21431" cy="875807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5"/>
          <p:cNvSpPr/>
          <p:nvPr/>
        </p:nvSpPr>
        <p:spPr>
          <a:xfrm>
            <a:off x="642938" y="2998896"/>
            <a:ext cx="373260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0B981"/>
                </a:solidFill>
              </a:rPr>
              <a:t>Advanced Behavioral Testing</a:t>
            </a:r>
            <a:endParaRPr lang="en-US" sz="784" dirty="0"/>
          </a:p>
        </p:txBody>
      </p:sp>
      <p:sp>
        <p:nvSpPr>
          <p:cNvPr id="19" name="Text 16"/>
          <p:cNvSpPr/>
          <p:nvPr/>
        </p:nvSpPr>
        <p:spPr>
          <a:xfrm>
            <a:off x="642938" y="3227496"/>
            <a:ext cx="3732609" cy="390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E8EEF5">
                    <a:alpha val="85000"/>
                  </a:srgbClr>
                </a:solidFill>
              </a:rPr>
              <a:t>Large language models simulate diverse user personas (novice users, power users, accessibility-dependent users) to discover subtle UX defects through exploratory testing.</a:t>
            </a:r>
            <a:endParaRPr lang="en-US" sz="674" dirty="0"/>
          </a:p>
        </p:txBody>
      </p:sp>
      <p:sp>
        <p:nvSpPr>
          <p:cNvPr id="20" name="Shape 17"/>
          <p:cNvSpPr/>
          <p:nvPr/>
        </p:nvSpPr>
        <p:spPr>
          <a:xfrm>
            <a:off x="4625578" y="2870309"/>
            <a:ext cx="4018359" cy="875807"/>
          </a:xfrm>
          <a:prstGeom prst="rect">
            <a:avLst/>
          </a:prstGeom>
          <a:solidFill>
            <a:srgbClr val="00D9FF">
              <a:alpha val="5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4625578" y="2870309"/>
            <a:ext cx="21431" cy="875807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22" name="Text 19"/>
          <p:cNvSpPr/>
          <p:nvPr/>
        </p:nvSpPr>
        <p:spPr>
          <a:xfrm>
            <a:off x="4768453" y="2998896"/>
            <a:ext cx="373260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D9FF"/>
                </a:solidFill>
              </a:rPr>
              <a:t>Full Reinforcement Learning</a:t>
            </a:r>
            <a:endParaRPr lang="en-US" sz="784" dirty="0"/>
          </a:p>
        </p:txBody>
      </p:sp>
      <p:sp>
        <p:nvSpPr>
          <p:cNvPr id="23" name="Text 20"/>
          <p:cNvSpPr/>
          <p:nvPr/>
        </p:nvSpPr>
        <p:spPr>
          <a:xfrm>
            <a:off x="4768453" y="3227496"/>
            <a:ext cx="3732609" cy="390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E8EEF5">
                    <a:alpha val="85000"/>
                  </a:srgbClr>
                </a:solidFill>
              </a:rPr>
              <a:t>Anomaly Learning Engine continuously learns from test failures and autonomously optimizes test strategies, wait times, and recovery approaches without human intervention.</a:t>
            </a:r>
            <a:endParaRPr lang="en-US" sz="674" dirty="0"/>
          </a:p>
        </p:txBody>
      </p:sp>
      <p:sp>
        <p:nvSpPr>
          <p:cNvPr id="24" name="Shape 21"/>
          <p:cNvSpPr/>
          <p:nvPr/>
        </p:nvSpPr>
        <p:spPr>
          <a:xfrm>
            <a:off x="500063" y="3853272"/>
            <a:ext cx="4018359" cy="785813"/>
          </a:xfrm>
          <a:prstGeom prst="rect">
            <a:avLst/>
          </a:prstGeom>
          <a:solidFill>
            <a:srgbClr val="00D9FF">
              <a:alpha val="5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500063" y="3853272"/>
            <a:ext cx="21431" cy="785813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6" name="Text 23"/>
          <p:cNvSpPr/>
          <p:nvPr/>
        </p:nvSpPr>
        <p:spPr>
          <a:xfrm>
            <a:off x="642938" y="3981859"/>
            <a:ext cx="373260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7C3AED"/>
                </a:solidFill>
              </a:rPr>
              <a:t>Production Chaos Engineering</a:t>
            </a:r>
            <a:endParaRPr lang="en-US" sz="784" dirty="0"/>
          </a:p>
        </p:txBody>
      </p:sp>
      <p:sp>
        <p:nvSpPr>
          <p:cNvPr id="27" name="Text 24"/>
          <p:cNvSpPr/>
          <p:nvPr/>
        </p:nvSpPr>
        <p:spPr>
          <a:xfrm>
            <a:off x="642938" y="4210459"/>
            <a:ext cx="3732609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E8EEF5">
                    <a:alpha val="85000"/>
                  </a:srgbClr>
                </a:solidFill>
              </a:rPr>
              <a:t>Carefully introduce controlled fault injection into production environments with minimal blast radius, validating true system resilience under real-world conditions.</a:t>
            </a:r>
            <a:endParaRPr lang="en-US" sz="674" dirty="0"/>
          </a:p>
        </p:txBody>
      </p:sp>
      <p:sp>
        <p:nvSpPr>
          <p:cNvPr id="28" name="Shape 25"/>
          <p:cNvSpPr/>
          <p:nvPr/>
        </p:nvSpPr>
        <p:spPr>
          <a:xfrm>
            <a:off x="4625578" y="3853272"/>
            <a:ext cx="4018359" cy="785813"/>
          </a:xfrm>
          <a:prstGeom prst="rect">
            <a:avLst/>
          </a:prstGeom>
          <a:solidFill>
            <a:srgbClr val="00D9FF">
              <a:alpha val="5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4625578" y="3853272"/>
            <a:ext cx="21431" cy="785813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0" name="Text 27"/>
          <p:cNvSpPr/>
          <p:nvPr/>
        </p:nvSpPr>
        <p:spPr>
          <a:xfrm>
            <a:off x="4768453" y="3981859"/>
            <a:ext cx="373260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0B981"/>
                </a:solidFill>
              </a:rPr>
              <a:t>Multi-Modal Verification</a:t>
            </a:r>
            <a:endParaRPr lang="en-US" sz="784" dirty="0"/>
          </a:p>
        </p:txBody>
      </p:sp>
      <p:sp>
        <p:nvSpPr>
          <p:cNvPr id="31" name="Text 28"/>
          <p:cNvSpPr/>
          <p:nvPr/>
        </p:nvSpPr>
        <p:spPr>
          <a:xfrm>
            <a:off x="4768453" y="4210459"/>
            <a:ext cx="3732609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E8EEF5">
                    <a:alpha val="85000"/>
                  </a:srgbClr>
                </a:solidFill>
              </a:rPr>
              <a:t>Add capabilities to test non-visual outputs like audio, video, and downloaded files, providing complete coverage of application functionality.</a:t>
            </a:r>
            <a:endParaRPr lang="en-US" sz="674" dirty="0"/>
          </a:p>
        </p:txBody>
      </p:sp>
      <p:sp>
        <p:nvSpPr>
          <p:cNvPr id="32" name="Shape 29"/>
          <p:cNvSpPr/>
          <p:nvPr/>
        </p:nvSpPr>
        <p:spPr>
          <a:xfrm>
            <a:off x="500063" y="4817678"/>
            <a:ext cx="8143875" cy="1082976"/>
          </a:xfrm>
          <a:prstGeom prst="rect">
            <a:avLst/>
          </a:prstGeom>
          <a:solidFill>
            <a:srgbClr val="7C3AED">
              <a:alpha val="8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500063" y="4817678"/>
            <a:ext cx="8143875" cy="1428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4" name="Text 31"/>
          <p:cNvSpPr/>
          <p:nvPr/>
        </p:nvSpPr>
        <p:spPr>
          <a:xfrm>
            <a:off x="678656" y="4960553"/>
            <a:ext cx="7786688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spc="1" kern="0" dirty="0">
                <a:solidFill>
                  <a:srgbClr val="7C3AED"/>
                </a:solidFill>
              </a:rPr>
              <a:t>Transformational Impact</a:t>
            </a:r>
            <a:endParaRPr lang="en-US" sz="683" dirty="0"/>
          </a:p>
        </p:txBody>
      </p:sp>
      <p:sp>
        <p:nvSpPr>
          <p:cNvPr id="35" name="Text 32"/>
          <p:cNvSpPr/>
          <p:nvPr/>
        </p:nvSpPr>
        <p:spPr>
          <a:xfrm>
            <a:off x="678656" y="5227718"/>
            <a:ext cx="183951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10B981"/>
                </a:solidFill>
              </a:rPr>
              <a:t>80-90%</a:t>
            </a:r>
            <a:endParaRPr lang="en-US" sz="1602" dirty="0"/>
          </a:p>
        </p:txBody>
      </p:sp>
      <p:sp>
        <p:nvSpPr>
          <p:cNvPr id="36" name="Text 33"/>
          <p:cNvSpPr/>
          <p:nvPr/>
        </p:nvSpPr>
        <p:spPr>
          <a:xfrm>
            <a:off x="678656" y="5606337"/>
            <a:ext cx="1839516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8EEF5">
                    <a:alpha val="90000"/>
                  </a:srgbClr>
                </a:solidFill>
              </a:rPr>
              <a:t>Reduction in test maintenance</a:t>
            </a:r>
            <a:endParaRPr lang="en-US" sz="621" dirty="0"/>
          </a:p>
        </p:txBody>
      </p:sp>
      <p:sp>
        <p:nvSpPr>
          <p:cNvPr id="37" name="Text 34"/>
          <p:cNvSpPr/>
          <p:nvPr/>
        </p:nvSpPr>
        <p:spPr>
          <a:xfrm>
            <a:off x="2661047" y="5227718"/>
            <a:ext cx="183951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00D9FF"/>
                </a:solidFill>
              </a:rPr>
              <a:t>70-80%</a:t>
            </a:r>
            <a:endParaRPr lang="en-US" sz="1602" dirty="0"/>
          </a:p>
        </p:txBody>
      </p:sp>
      <p:sp>
        <p:nvSpPr>
          <p:cNvPr id="38" name="Text 35"/>
          <p:cNvSpPr/>
          <p:nvPr/>
        </p:nvSpPr>
        <p:spPr>
          <a:xfrm>
            <a:off x="2661047" y="5606337"/>
            <a:ext cx="1839516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8EEF5">
                    <a:alpha val="90000"/>
                  </a:srgbClr>
                </a:solidFill>
              </a:rPr>
              <a:t>Faster failure resolution</a:t>
            </a:r>
            <a:endParaRPr lang="en-US" sz="621" dirty="0"/>
          </a:p>
        </p:txBody>
      </p:sp>
      <p:sp>
        <p:nvSpPr>
          <p:cNvPr id="39" name="Text 36"/>
          <p:cNvSpPr/>
          <p:nvPr/>
        </p:nvSpPr>
        <p:spPr>
          <a:xfrm>
            <a:off x="4643438" y="5227718"/>
            <a:ext cx="183951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7C3AED"/>
                </a:solidFill>
              </a:rPr>
              <a:t>+30-40%</a:t>
            </a:r>
            <a:endParaRPr lang="en-US" sz="1602" dirty="0"/>
          </a:p>
        </p:txBody>
      </p:sp>
      <p:sp>
        <p:nvSpPr>
          <p:cNvPr id="40" name="Text 37"/>
          <p:cNvSpPr/>
          <p:nvPr/>
        </p:nvSpPr>
        <p:spPr>
          <a:xfrm>
            <a:off x="4643438" y="5606337"/>
            <a:ext cx="1839516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8EEF5">
                    <a:alpha val="90000"/>
                  </a:srgbClr>
                </a:solidFill>
              </a:rPr>
              <a:t>More defects discovered</a:t>
            </a:r>
            <a:endParaRPr lang="en-US" sz="621" dirty="0"/>
          </a:p>
        </p:txBody>
      </p:sp>
      <p:sp>
        <p:nvSpPr>
          <p:cNvPr id="41" name="Text 38"/>
          <p:cNvSpPr/>
          <p:nvPr/>
        </p:nvSpPr>
        <p:spPr>
          <a:xfrm>
            <a:off x="6625828" y="5227718"/>
            <a:ext cx="183951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10B981"/>
                </a:solidFill>
              </a:rPr>
              <a:t>40-50%</a:t>
            </a:r>
            <a:endParaRPr lang="en-US" sz="1602" dirty="0"/>
          </a:p>
        </p:txBody>
      </p:sp>
      <p:sp>
        <p:nvSpPr>
          <p:cNvPr id="42" name="Text 39"/>
          <p:cNvSpPr/>
          <p:nvPr/>
        </p:nvSpPr>
        <p:spPr>
          <a:xfrm>
            <a:off x="6625828" y="5606337"/>
            <a:ext cx="1839516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8EEF5">
                    <a:alpha val="90000"/>
                  </a:srgbClr>
                </a:solidFill>
              </a:rPr>
              <a:t>Faster release velocity</a:t>
            </a:r>
            <a:endParaRPr lang="en-US" sz="62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3336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357188"/>
            <a:ext cx="8143875" cy="3086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0D9FF"/>
                </a:solidFill>
              </a:rPr>
              <a:t>Expected Impact &amp; Success Metrics</a:t>
            </a:r>
            <a:endParaRPr lang="en-US" sz="1808" dirty="0"/>
          </a:p>
        </p:txBody>
      </p:sp>
      <p:sp>
        <p:nvSpPr>
          <p:cNvPr id="4" name="Text 1"/>
          <p:cNvSpPr/>
          <p:nvPr/>
        </p:nvSpPr>
        <p:spPr>
          <a:xfrm>
            <a:off x="500063" y="987261"/>
            <a:ext cx="8143875" cy="1943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34" b="1" dirty="0">
                <a:solidFill>
                  <a:srgbClr val="E8EEF5"/>
                </a:solidFill>
              </a:rPr>
              <a:t>Comprehensive quality assurance delivered through autonomous, intelligent testing</a:t>
            </a:r>
            <a:endParaRPr lang="en-US" sz="834" dirty="0"/>
          </a:p>
        </p:txBody>
      </p:sp>
      <p:sp>
        <p:nvSpPr>
          <p:cNvPr id="5" name="Shape 2"/>
          <p:cNvSpPr/>
          <p:nvPr/>
        </p:nvSpPr>
        <p:spPr>
          <a:xfrm>
            <a:off x="500063" y="1360159"/>
            <a:ext cx="4000500" cy="1821656"/>
          </a:xfrm>
          <a:prstGeom prst="rect">
            <a:avLst/>
          </a:prstGeom>
          <a:solidFill>
            <a:srgbClr val="00D9FF">
              <a:alpha val="5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500063" y="1360159"/>
            <a:ext cx="4000500" cy="2857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4"/>
          <p:cNvSpPr/>
          <p:nvPr/>
        </p:nvSpPr>
        <p:spPr>
          <a:xfrm>
            <a:off x="678656" y="1538753"/>
            <a:ext cx="3643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10B981"/>
                </a:solidFill>
              </a:rPr>
              <a:t>Efficiency Gains</a:t>
            </a:r>
            <a:endParaRPr lang="en-US" sz="987" dirty="0"/>
          </a:p>
        </p:txBody>
      </p:sp>
      <p:sp>
        <p:nvSpPr>
          <p:cNvPr id="8" name="Text 5"/>
          <p:cNvSpPr/>
          <p:nvPr/>
        </p:nvSpPr>
        <p:spPr>
          <a:xfrm>
            <a:off x="678656" y="1860221"/>
            <a:ext cx="364331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0B981"/>
                </a:solidFill>
              </a:rPr>
              <a:t>70-80%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8EEF5"/>
                </a:solidFill>
              </a:rPr>
              <a:t> reduction in test maintenance effort, freeing QA resources for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8EEF5"/>
                </a:solidFill>
              </a:rPr>
              <a:t>exploratory testing and quality strategy</a:t>
            </a:r>
            <a:endParaRPr lang="en-US" sz="683" dirty="0"/>
          </a:p>
        </p:txBody>
      </p:sp>
      <p:sp>
        <p:nvSpPr>
          <p:cNvPr id="9" name="Text 6"/>
          <p:cNvSpPr/>
          <p:nvPr/>
        </p:nvSpPr>
        <p:spPr>
          <a:xfrm>
            <a:off x="678656" y="2231696"/>
            <a:ext cx="364331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0B981"/>
                </a:solidFill>
              </a:rPr>
              <a:t>30-40%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8EEF5"/>
                </a:solidFill>
              </a:rPr>
              <a:t> reduction in test execution time through intelligent test selection and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8EEF5"/>
                </a:solidFill>
              </a:rPr>
              <a:t>parallelization</a:t>
            </a:r>
            <a:endParaRPr lang="en-US" sz="683" dirty="0"/>
          </a:p>
        </p:txBody>
      </p:sp>
      <p:sp>
        <p:nvSpPr>
          <p:cNvPr id="10" name="Text 7"/>
          <p:cNvSpPr/>
          <p:nvPr/>
        </p:nvSpPr>
        <p:spPr>
          <a:xfrm>
            <a:off x="678656" y="2603171"/>
            <a:ext cx="364331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0B981"/>
                </a:solidFill>
              </a:rPr>
              <a:t>70-80%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8EEF5"/>
                </a:solidFill>
              </a:rPr>
              <a:t> reduction in time-to-resolution for test failures through advanced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8EEF5"/>
                </a:solidFill>
              </a:rPr>
              <a:t>diagnostics and AI-assisted debugging</a:t>
            </a:r>
            <a:endParaRPr lang="en-US" sz="683" dirty="0"/>
          </a:p>
        </p:txBody>
      </p:sp>
      <p:sp>
        <p:nvSpPr>
          <p:cNvPr id="11" name="Shape 8"/>
          <p:cNvSpPr/>
          <p:nvPr/>
        </p:nvSpPr>
        <p:spPr>
          <a:xfrm>
            <a:off x="4643438" y="1360159"/>
            <a:ext cx="4000500" cy="1821656"/>
          </a:xfrm>
          <a:prstGeom prst="rect">
            <a:avLst/>
          </a:prstGeom>
          <a:solidFill>
            <a:srgbClr val="00D9FF">
              <a:alpha val="5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643438" y="1360159"/>
            <a:ext cx="4000500" cy="28575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3" name="Text 10"/>
          <p:cNvSpPr/>
          <p:nvPr/>
        </p:nvSpPr>
        <p:spPr>
          <a:xfrm>
            <a:off x="4822031" y="1538753"/>
            <a:ext cx="3643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00D9FF"/>
                </a:solidFill>
              </a:rPr>
              <a:t>Quality Improvements</a:t>
            </a:r>
            <a:endParaRPr lang="en-US" sz="987" dirty="0"/>
          </a:p>
        </p:txBody>
      </p:sp>
      <p:sp>
        <p:nvSpPr>
          <p:cNvPr id="14" name="Text 11"/>
          <p:cNvSpPr/>
          <p:nvPr/>
        </p:nvSpPr>
        <p:spPr>
          <a:xfrm>
            <a:off x="4822031" y="1860221"/>
            <a:ext cx="364331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D9FF"/>
                </a:solidFill>
              </a:rPr>
              <a:t>50-60%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8EEF5"/>
                </a:solidFill>
              </a:rPr>
              <a:t> increase in defect detection through expanded testing scope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8EEF5"/>
                </a:solidFill>
              </a:rPr>
              <a:t>covering security, performance, and accessibility</a:t>
            </a:r>
            <a:endParaRPr lang="en-US" sz="683" dirty="0"/>
          </a:p>
        </p:txBody>
      </p:sp>
      <p:sp>
        <p:nvSpPr>
          <p:cNvPr id="15" name="Text 12"/>
          <p:cNvSpPr/>
          <p:nvPr/>
        </p:nvSpPr>
        <p:spPr>
          <a:xfrm>
            <a:off x="4822031" y="2231696"/>
            <a:ext cx="364331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D9FF"/>
                </a:solidFill>
              </a:rPr>
              <a:t>40-50%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8EEF5"/>
                </a:solidFill>
              </a:rPr>
              <a:t> reduction in production defects as issues are caught earlier in the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8EEF5"/>
                </a:solidFill>
              </a:rPr>
              <a:t>development cycle</a:t>
            </a:r>
            <a:endParaRPr lang="en-US" sz="683" dirty="0"/>
          </a:p>
        </p:txBody>
      </p:sp>
      <p:sp>
        <p:nvSpPr>
          <p:cNvPr id="16" name="Text 13"/>
          <p:cNvSpPr/>
          <p:nvPr/>
        </p:nvSpPr>
        <p:spPr>
          <a:xfrm>
            <a:off x="4822031" y="2603171"/>
            <a:ext cx="364331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00D9FF"/>
                </a:solidFill>
              </a:rPr>
              <a:t>80-90%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8EEF5"/>
                </a:solidFill>
              </a:rPr>
              <a:t> improvement in test reliability through self-healing and adaptive wait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8EEF5"/>
                </a:solidFill>
              </a:rPr>
              <a:t>mechanisms</a:t>
            </a:r>
            <a:endParaRPr lang="en-US" sz="683" dirty="0"/>
          </a:p>
        </p:txBody>
      </p:sp>
      <p:sp>
        <p:nvSpPr>
          <p:cNvPr id="17" name="Shape 14"/>
          <p:cNvSpPr/>
          <p:nvPr/>
        </p:nvSpPr>
        <p:spPr>
          <a:xfrm>
            <a:off x="500063" y="3296115"/>
            <a:ext cx="4000500" cy="1821656"/>
          </a:xfrm>
          <a:prstGeom prst="rect">
            <a:avLst/>
          </a:prstGeom>
          <a:solidFill>
            <a:srgbClr val="00D9FF">
              <a:alpha val="5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500063" y="3296115"/>
            <a:ext cx="4000500" cy="28575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6"/>
          <p:cNvSpPr/>
          <p:nvPr/>
        </p:nvSpPr>
        <p:spPr>
          <a:xfrm>
            <a:off x="678656" y="3474709"/>
            <a:ext cx="3643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7C3AED"/>
                </a:solidFill>
              </a:rPr>
              <a:t>Business Impact</a:t>
            </a:r>
            <a:endParaRPr lang="en-US" sz="987" dirty="0"/>
          </a:p>
        </p:txBody>
      </p:sp>
      <p:sp>
        <p:nvSpPr>
          <p:cNvPr id="20" name="Text 17"/>
          <p:cNvSpPr/>
          <p:nvPr/>
        </p:nvSpPr>
        <p:spPr>
          <a:xfrm>
            <a:off x="678656" y="3796178"/>
            <a:ext cx="364331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7C3AED"/>
                </a:solidFill>
              </a:rPr>
              <a:t>40-50%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8EEF5"/>
                </a:solidFill>
              </a:rPr>
              <a:t> increase in release velocity as quality gates become enablers rather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8EEF5"/>
                </a:solidFill>
              </a:rPr>
              <a:t>than bottlenecks</a:t>
            </a:r>
            <a:endParaRPr lang="en-US" sz="683" dirty="0"/>
          </a:p>
        </p:txBody>
      </p:sp>
      <p:sp>
        <p:nvSpPr>
          <p:cNvPr id="21" name="Text 18"/>
          <p:cNvSpPr/>
          <p:nvPr/>
        </p:nvSpPr>
        <p:spPr>
          <a:xfrm>
            <a:off x="678656" y="4167653"/>
            <a:ext cx="364331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7C3AED"/>
                </a:solidFill>
              </a:rPr>
              <a:t>50-60%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8EEF5"/>
                </a:solidFill>
              </a:rPr>
              <a:t> reduction in cost of quality through automation and early defect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8EEF5"/>
                </a:solidFill>
              </a:rPr>
              <a:t>detection</a:t>
            </a:r>
            <a:endParaRPr lang="en-US" sz="683" dirty="0"/>
          </a:p>
        </p:txBody>
      </p:sp>
      <p:sp>
        <p:nvSpPr>
          <p:cNvPr id="22" name="Text 19"/>
          <p:cNvSpPr/>
          <p:nvPr/>
        </p:nvSpPr>
        <p:spPr>
          <a:xfrm>
            <a:off x="678656" y="4539128"/>
            <a:ext cx="364331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7C3AED"/>
                </a:solidFill>
              </a:rPr>
              <a:t>Improved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8EEF5"/>
                </a:solidFill>
              </a:rPr>
              <a:t> customer satisfaction through fewer production incidents and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8EEF5"/>
                </a:solidFill>
              </a:rPr>
              <a:t>better accessibility</a:t>
            </a:r>
            <a:endParaRPr lang="en-US" sz="683" dirty="0"/>
          </a:p>
        </p:txBody>
      </p:sp>
      <p:sp>
        <p:nvSpPr>
          <p:cNvPr id="23" name="Shape 20"/>
          <p:cNvSpPr/>
          <p:nvPr/>
        </p:nvSpPr>
        <p:spPr>
          <a:xfrm>
            <a:off x="4643438" y="3296115"/>
            <a:ext cx="4000500" cy="1793081"/>
          </a:xfrm>
          <a:prstGeom prst="rect">
            <a:avLst/>
          </a:prstGeom>
          <a:solidFill>
            <a:srgbClr val="00D9FF">
              <a:alpha val="5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4643438" y="3296115"/>
            <a:ext cx="4000500" cy="2857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Text 22"/>
          <p:cNvSpPr/>
          <p:nvPr/>
        </p:nvSpPr>
        <p:spPr>
          <a:xfrm>
            <a:off x="4822031" y="3474709"/>
            <a:ext cx="3643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10B981"/>
                </a:solidFill>
              </a:rPr>
              <a:t>Organizational Transformation</a:t>
            </a:r>
            <a:endParaRPr lang="en-US" sz="987" dirty="0"/>
          </a:p>
        </p:txBody>
      </p:sp>
      <p:sp>
        <p:nvSpPr>
          <p:cNvPr id="26" name="Text 23"/>
          <p:cNvSpPr/>
          <p:nvPr/>
        </p:nvSpPr>
        <p:spPr>
          <a:xfrm>
            <a:off x="4822031" y="3796178"/>
            <a:ext cx="36433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8EEF5"/>
                </a:solidFill>
              </a:rPr>
              <a:t>QA teams shift from test maintenance to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0B981"/>
                </a:solidFill>
              </a:rPr>
              <a:t>strategic quality engineering</a:t>
            </a:r>
            <a:endParaRPr lang="en-US" sz="727" dirty="0"/>
          </a:p>
        </p:txBody>
      </p:sp>
      <p:sp>
        <p:nvSpPr>
          <p:cNvPr id="27" name="Text 24"/>
          <p:cNvSpPr/>
          <p:nvPr/>
        </p:nvSpPr>
        <p:spPr>
          <a:xfrm>
            <a:off x="4822031" y="4017634"/>
            <a:ext cx="36433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8EEF5"/>
                </a:solidFill>
              </a:rPr>
              <a:t>Developers receive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0B981"/>
                </a:solidFill>
              </a:rPr>
              <a:t>faster, more actionable feedback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8EEF5"/>
                </a:solidFill>
              </a:rPr>
              <a:t> on code quality</a:t>
            </a:r>
            <a:endParaRPr lang="en-US" sz="727" dirty="0"/>
          </a:p>
        </p:txBody>
      </p:sp>
      <p:sp>
        <p:nvSpPr>
          <p:cNvPr id="28" name="Text 25"/>
          <p:cNvSpPr/>
          <p:nvPr/>
        </p:nvSpPr>
        <p:spPr>
          <a:xfrm>
            <a:off x="4822031" y="4239090"/>
            <a:ext cx="36433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8EEF5"/>
                </a:solidFill>
              </a:rPr>
              <a:t>Product teams gain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0B981"/>
                </a:solidFill>
              </a:rPr>
              <a:t>confidence to ship more frequently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E8EEF5"/>
                </a:solidFill>
              </a:rPr>
              <a:t> with lower risk</a:t>
            </a:r>
            <a:endParaRPr lang="en-US" sz="727" dirty="0"/>
          </a:p>
        </p:txBody>
      </p:sp>
      <p:sp>
        <p:nvSpPr>
          <p:cNvPr id="29" name="Shape 26"/>
          <p:cNvSpPr/>
          <p:nvPr/>
        </p:nvSpPr>
        <p:spPr>
          <a:xfrm>
            <a:off x="500063" y="5267790"/>
            <a:ext cx="8143875" cy="651477"/>
          </a:xfrm>
          <a:prstGeom prst="rect">
            <a:avLst/>
          </a:prstGeom>
          <a:solidFill>
            <a:srgbClr val="00D9FF">
              <a:alpha val="15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500063" y="5267790"/>
            <a:ext cx="28575" cy="651477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31" name="Text 28"/>
          <p:cNvSpPr/>
          <p:nvPr/>
        </p:nvSpPr>
        <p:spPr>
          <a:xfrm>
            <a:off x="714375" y="5410665"/>
            <a:ext cx="7715250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E8EEF5"/>
                </a:solidFill>
              </a:rPr>
              <a:t>The roadmap provides a clear path from foundational stability to autonomous intelligence, with measurable value delivered at each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E8EEF5"/>
                </a:solidFill>
              </a:rPr>
              <a:t>phase. Organizations can expect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0B981"/>
                </a:solidFill>
              </a:rPr>
              <a:t>positive ROI within 6 months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E8EEF5"/>
                </a:solidFill>
              </a:rPr>
              <a:t> and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7C3AED"/>
                </a:solidFill>
              </a:rPr>
              <a:t>transformational impact within 18 months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E8EEF5"/>
                </a:solidFill>
              </a:rPr>
              <a:t>.</a:t>
            </a:r>
            <a:endParaRPr lang="en-US" sz="78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2025-11-12T17:41:56Z</dcterms:created>
  <dcterms:modified xsi:type="dcterms:W3CDTF">2025-11-12T17:41:56Z</dcterms:modified>
</cp:coreProperties>
</file>